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640080" y="1847088"/>
            <a:ext cx="1417320" cy="4572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640080" y="1417320"/>
            <a:ext cx="10911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9B4C4"/>
                </a:solidFill>
                <a:latin typeface="Calibri"/>
              </a:rPr>
              <a:t>DEPOSITIQ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40080" y="2103120"/>
            <a:ext cx="9814255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Which clients to call today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40080" y="3520440"/>
            <a:ext cx="853409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A9B4C4"/>
                </a:solidFill>
                <a:latin typeface="Calibri"/>
              </a:rPr>
              <a:t>A ranking model for a bank telemarketing campaign, and the price at which</a:t>
            </a:r>
          </a:p>
          <a:p>
            <a:pPr>
              <a:lnSpc>
                <a:spcPct val="110000"/>
              </a:lnSpc>
            </a:pPr>
            <a:r>
              <a:rPr sz="1550" b="0" i="0">
                <a:solidFill>
                  <a:srgbClr val="A9B4C4"/>
                </a:solidFill>
                <a:latin typeface="Calibri"/>
              </a:rPr>
              <a:t>calling stops paying for itself.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640080" y="5074920"/>
            <a:ext cx="9814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E9BAE"/>
                </a:solidFill>
                <a:latin typeface="Calibri"/>
              </a:rPr>
              <a:t>45,211 clients   |   9,043 held out   |   XGBoost, 12 features   |   cut 0.0750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40080" y="6053328"/>
            <a:ext cx="9814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C91"/>
                </a:solidFill>
                <a:latin typeface="Calibri"/>
              </a:rPr>
              <a:t>mayurkusmade/depositiq-term-deposit-prediction   |   2026-10-30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THE 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Spend the same calls better, not fewer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5300319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At 1.50 EUR a call and a 20.00 EUR deposit, break-even is 7.50% - below the 11.6982% rate of the modelling half.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So this model converts a fixed call budget. It is not a case for cutting campaign spend.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Calling 41.10% of the list reaches 77.90% of subscribers: 43,621.00 EUR against 30,368.00 EUR for calling everyone.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+13,253.00 EUR, on 21,302 fewer calls.</a:t>
            </a:r>
          </a:p>
        </p:txBody>
      </p:sp>
      <p:graphicFrame>
        <p:nvGraphicFramePr>
          <p:cNvPr id="6" name="body"/>
          <p:cNvGraphicFramePr>
            <a:graphicFrameLocks noGrp="1"/>
          </p:cNvGraphicFramePr>
          <p:nvPr/>
        </p:nvGraphicFramePr>
        <p:xfrm>
          <a:off x="6251295" y="1819656"/>
          <a:ext cx="5300318" cy="11516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2108"/>
                <a:gridCol w="1484089"/>
                <a:gridCol w="2014121"/>
              </a:tblGrid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Per campaign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Call everyone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Ranked, cut at 0.0750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Calls made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36,168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14,866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Subscribers reached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4,231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3,296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Net value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30,368.00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43,621.00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ody"/>
          <p:cNvSpPr txBox="1"/>
          <p:nvPr/>
        </p:nvSpPr>
        <p:spPr>
          <a:xfrm>
            <a:off x="6251295" y="3190748"/>
            <a:ext cx="5300319" cy="240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Held out: 10,988.50 EUR against 7,595.50, on 3,621 calls.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models/playbook.json, models/threshold_choice.json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1 - THE DECISION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Seven calls in eight are wasted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4582844" cy="2827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45,211 clients in the file; 5,289 subscribed - 11.70%, a 7.55 : 1 split.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Each day the bank has more clients than agents, so its decision is which clients to call.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constraint is agent capacity, not budget: the unit of cost is one call.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So the question is not 'will this client buy', but 'is this client worth a call today'.</a:t>
            </a:r>
          </a:p>
        </p:txBody>
      </p:sp>
      <p:pic>
        <p:nvPicPr>
          <p:cNvPr id="6" name="figure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238667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533820" y="4297765"/>
            <a:ext cx="6017794" cy="204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One deposit per 8.55 calls, so an unordered list wastes seven calls in eight.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docs/01_problem_definition.md, models/threshold_choice.json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2 - THE COST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cut is a price, not a parameter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5300319" cy="2827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A call costs C = 1.50 EUR; a captured deposit is worth V = 20.00 EUR. Both are assumptions, and both are declared as such.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Call when V x p &gt; C, so the break-even probability is p* = C / V = 7.50%.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Every euro here is linear in V: at 40.00 EUR the cut halves and the totals double.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ranking does not move, which is why the decisions rest on order and the euros stay labelled.</a:t>
            </a:r>
          </a:p>
        </p:txBody>
      </p:sp>
      <p:graphicFrame>
        <p:nvGraphicFramePr>
          <p:cNvPr id="6" name="body"/>
          <p:cNvGraphicFramePr>
            <a:graphicFrameLocks noGrp="1"/>
          </p:cNvGraphicFramePr>
          <p:nvPr/>
        </p:nvGraphicFramePr>
        <p:xfrm>
          <a:off x="6251295" y="1819656"/>
          <a:ext cx="5300319" cy="14395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8115"/>
                <a:gridCol w="1166070"/>
                <a:gridCol w="2226134"/>
              </a:tblGrid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it comes from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C, cost of a call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1.50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V, value of a deposit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20.00 EUR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p*, break-even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7.50%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C / V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Base rate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11.6982%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measured: 4,231 in 45,211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src/cost.py, models/threshold_choice.json, docs/01_problem_definition.md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3 - THE DATA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No missing values, and that is the problem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9326880" cy="2715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Zero NaN in 45,211 rows: missingness arrives as a literal string. poutcome = unknown covers 81.7%; contact = unknown covers 28.8%.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pdays = -1 means 'never contacted', not 'minus one day'. Read as a number it returns a mean of 40.2 days that no client has.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pdays and days_since_contact carry the same number on all 6,584 rows where both exist: a duplicate, not a correlation.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two unknowns are different objects. poutcome = unknown is a fact about the bank; contact = unknown is a failure to record.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So one becomes a level and the other becomes recommendation R1.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docs/02_data_dictionary.md, docs/05_leakage_audit.md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4 - WHAT THE CAMPAIGN ALREADY GETS WRONG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fourth call costs more than it earns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4582844" cy="391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poutcome = success converts at 64.65% - 779 of 1,205 clients - and is known before the call.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Clients needing 4 or more calls hold 52.68% of the calls for 13.47% of the successes.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first three calls convert at 7.7386%, just above the price; the extra calls at 1.9298%.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That tail is 32,906 EUR of agent time against a 20.00 EUR deposit.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cap must be targeted: 93.28% of the tail has no known outcome, while poutcome = success still returns 22.55% a call.</a:t>
            </a:r>
          </a:p>
        </p:txBody>
      </p:sp>
      <p:pic>
        <p:nvPicPr>
          <p:cNvPr id="6" name="figure" descr="04_campaign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3533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533820" y="5444233"/>
            <a:ext cx="6017794" cy="204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Call count, contact type and prior outcome, against the price line.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docs/04_eda_insights.md, reports/figures/04_campaign_vs_target.png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5 - LEAKAGE: PROHIBITION ONE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column that doubles the money and must not be used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5300319" cy="2827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duration is the length of the call. It is recorded after the call ends, so it does not exist when today's list is built.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Alone it reaches ROC-AUC 0.8078, more than the shipped model. Its bands climb from 0.16% under a minute to 48.56% at ten minutes or more.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Given to the model it adds 0.1788 PR-AUC and 20,340.00 EUR.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verdict came from a rule written before the numbers existed, and it says leakage.</a:t>
            </a:r>
          </a:p>
        </p:txBody>
      </p:sp>
      <p:graphicFrame>
        <p:nvGraphicFramePr>
          <p:cNvPr id="6" name="body"/>
          <p:cNvGraphicFramePr>
            <a:graphicFrameLocks noGrp="1"/>
          </p:cNvGraphicFramePr>
          <p:nvPr/>
        </p:nvGraphicFramePr>
        <p:xfrm>
          <a:off x="6251295" y="1819656"/>
          <a:ext cx="5300317" cy="12039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0127"/>
                <a:gridCol w="954057"/>
                <a:gridCol w="954057"/>
                <a:gridCol w="1272076"/>
              </a:tblGrid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Net at 7.50%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A - without duration (ships)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0.4460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0.7990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43,621.00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B - with duration (diagnostic)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0.6254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0.9360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B2A41"/>
                          </a:solidFill>
                          <a:latin typeface="Calibri"/>
                        </a:rPr>
                        <a:t>63,961.00 EUR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body"/>
          <p:cNvSpPr txBox="1"/>
          <p:nvPr/>
        </p:nvSpPr>
        <p:spPr>
          <a:xfrm>
            <a:off x="6251295" y="3243072"/>
            <a:ext cx="5300319" cy="435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Arm A ships regardless: the column does not exist at the moment a decision is made.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models/duration_comparison.json, docs/05_leakage_audit.md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6 - FEATURES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Seventeen features became twelve, and the loss was measured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4582844" cy="402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Five engineered columns replace their raw ones rather than sit beside them; balance through arsinh takes absolute skew from 8.34 to 1.68.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Two rankings over the same 17 features - mutual information and permutation importance - correlate at +0.647.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Removing the five nominated features costs 0.00014 +/- 0.00195 ROC-AUC, with 3 of 5 folds improving, so the one-standard-error rule drops them.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Re-measured per model: the forest loses 0.0014 +/- 0.0024 and the booster 0.0001 +/- 0.0008. The matrix goes from 65 columns to 40.</a:t>
            </a:r>
          </a:p>
        </p:txBody>
      </p:sp>
      <p:pic>
        <p:nvPicPr>
          <p:cNvPr id="6" name="figure" descr="06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3317262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533820" y="5228358"/>
            <a:ext cx="6017794" cy="204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Two rankings, each feature's own permutation null, and the five dropped features hatched.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docs/05_leakage_audit.md, reports/figures/06_feature_importance.png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7 - MODELS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One harness, seven builds, and a fix that made it worse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body"/>
          <p:cNvGraphicFramePr>
            <a:graphicFrameLocks noGrp="1"/>
          </p:cNvGraphicFramePr>
          <p:nvPr/>
        </p:nvGraphicFramePr>
        <p:xfrm>
          <a:off x="640080" y="1819656"/>
          <a:ext cx="5300318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2108"/>
                <a:gridCol w="848051"/>
                <a:gridCol w="901054"/>
                <a:gridCol w="848051"/>
                <a:gridCol w="901054"/>
              </a:tblGrid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dummy_prior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0.1170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0.5000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0.1033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floor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logreg_balanced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0.4008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0.7640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0.1852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random_forest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0.4346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0.7906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0.1403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XGBoost, weighted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0.4420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0.7993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0.1637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XGBoost, untreated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0.4444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0.7993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0.0821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XGBoost, SMOTE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0.4152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0.7799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0.1221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XGBoost, tuned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0.4460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0.7990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0.0818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shipped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/>
          <p:cNvSpPr txBox="1"/>
          <p:nvPr/>
        </p:nvSpPr>
        <p:spPr>
          <a:xfrm>
            <a:off x="6251295" y="1819656"/>
            <a:ext cx="5300319" cy="3307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Same folds, same rows, same scorer for every build - 36,168 training rows and 4,231 positives.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Ranking and calibration are separate problems: the logistic baseline ranks at 0.7640 ROC-AUC while predicting 0.4161 on average against a 0.1170 base rate.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SMOTE lost in 0 of 5 folds and ran three times slower; the class weight bought no ranking and halved the Brier score.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Tuning added 0.00165 +/- 0.00286 - 0.58 SE - so the tuned point is kept for not being worse, not for being better.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models/cv_results.json, models/imbalance_results.json, models/final_model.json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8 - THE OPERATING POINT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cut is the price the bank already pays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body"/>
          <p:cNvGraphicFramePr>
            <a:graphicFrameLocks noGrp="1"/>
          </p:cNvGraphicFramePr>
          <p:nvPr/>
        </p:nvGraphicFramePr>
        <p:xfrm>
          <a:off x="640080" y="1819656"/>
          <a:ext cx="4582843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1481"/>
                <a:gridCol w="870740"/>
                <a:gridCol w="870740"/>
                <a:gridCol w="1099882"/>
              </a:tblGrid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Cut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Reached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Net value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Call everyone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36,168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4,231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30,368.00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18,248.00 EUR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F1 cut 0.2103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36,891.00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Price 0.0750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14,866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3,296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43,621.00 EUR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Empirical peak 0.0821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13,247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3,194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B2A41"/>
                          </a:solidFill>
                          <a:latin typeface="Calibri"/>
                        </a:rPr>
                        <a:t>44,009.50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/>
          <p:cNvSpPr txBox="1"/>
          <p:nvPr/>
        </p:nvSpPr>
        <p:spPr>
          <a:xfrm>
            <a:off x="640080" y="3739896"/>
            <a:ext cx="4582844" cy="1665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peak is worth 388.50 EUR more, and is chosen by looking at the data it then scores.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0.0750 sits 0.0004 above the bottom of the 1%-of-peak plateau: the most aggressive cut still within 1% of the best.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ROI is a trap of its own: 0.5 posts 765% and loses money in absolute terms.</a:t>
            </a:r>
          </a:p>
        </p:txBody>
      </p:sp>
      <p:pic>
        <p:nvPicPr>
          <p:cNvPr id="7" name="figure" descr="07_threshol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2056832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533820" y="3967928"/>
            <a:ext cx="6017794" cy="354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Net value against the cut, with the price, the 1%-of-peak plateau and both empirical argmaxes marked.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models/threshold_choice.json, reports/figures/07_threshold_curve.png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9 - HELD OUT, SPENT ONCE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On clients it never saw, the ranking holds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body"/>
          <p:cNvGraphicFramePr>
            <a:graphicFrameLocks noGrp="1"/>
          </p:cNvGraphicFramePr>
          <p:nvPr/>
        </p:nvGraphicFramePr>
        <p:xfrm>
          <a:off x="640080" y="1819656"/>
          <a:ext cx="5300318" cy="14395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6134"/>
                <a:gridCol w="1537092"/>
                <a:gridCol w="1537092"/>
              </a:tblGrid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Held out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Cross-validated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0.4616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0.4460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0.8052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0.7990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0.0804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0.0818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Mean prediction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0.1151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0.1166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body"/>
          <p:cNvSpPr txBox="1"/>
          <p:nvPr/>
        </p:nvSpPr>
        <p:spPr>
          <a:xfrm>
            <a:off x="6251295" y="1819656"/>
            <a:ext cx="5300319" cy="3067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artifact was loaded, not refitted, and scored once on 9,043 rows holding 1,058 subscribers.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Net value 10,988.50 EUR against 7,595.50 for calling everyone, at a recall of 77.60%.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gap of 0.0155 is not a gain: the bootstrap over these same rows spans 0.4304 to 0.4969, which is 0.92 standard deviations.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What this does not say: the prices are assumptions, the split is random rather than temporal, and the held-out rows are the same campaign.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models/holdout_eval.json, models/metrics_cv.json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10 - LIFT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top tenth of the list converts 4.5 times the base rate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4582844" cy="3914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Top decile lift 4.5100 held out and 4.3652 out of fold; that decile holds 45.09% of all subscribers.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Decile 3 is already below random at 0.88 - past the best fifth, the model's message is 'do not call'.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adopted cut saves 13,309 calls, 19,964 EUR, against a fixed order needing 28,175.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Calls saved peaks at 18.89% coverage, before the cut; the 8,033 calls between them still convert at 8.96%.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A shuffled-score self-test reruns the table on noise and finds lifts of 0.950 to 1.108.</a:t>
            </a:r>
          </a:p>
        </p:txBody>
      </p:sp>
      <p:pic>
        <p:nvPicPr>
          <p:cNvPr id="6" name="figure" descr="08_lift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2050525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533820" y="3961621"/>
            <a:ext cx="6017794" cy="204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Lift and cumulative gain per decile on both halves, each against its own base rate.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models/lift_results.json, reports/lift_table.csv, reports/figures/08_lift_gain.png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11 - THE METRIC WE REFUSE: PROHIBITION TWO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best model by accuracy finds nobody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body"/>
          <p:cNvGraphicFramePr>
            <a:graphicFrameLocks noGrp="1"/>
          </p:cNvGraphicFramePr>
          <p:nvPr/>
        </p:nvGraphicFramePr>
        <p:xfrm>
          <a:off x="640080" y="1819656"/>
          <a:ext cx="10911534" cy="11516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28152"/>
                <a:gridCol w="3491691"/>
                <a:gridCol w="3491691"/>
              </a:tblGrid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Cut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Always 'no'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88.3003%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89.6052%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61.28%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79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Price 0.0750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66.42%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B2A41"/>
                          </a:solidFill>
                          <a:latin typeface="Calibri"/>
                        </a:rPr>
                        <a:t>71.27%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/>
          <p:cNvSpPr txBox="1"/>
          <p:nvPr/>
        </p:nvSpPr>
        <p:spPr>
          <a:xfrm>
            <a:off x="640080" y="3190748"/>
            <a:ext cx="9326880" cy="1531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Every figure in that table is held out, from the same 9,043 rows.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A model that answers 'no' to everyone is 88.3003% accurate and calls nobody.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At its cut this model scores 66.42% - 22 points worse - while finding 77.60% of subscribers.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most accurate cut is 0.5 at 89.6052%, and it still misses 801 of the 1,058.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300" b="0" i="0">
                <a:solidFill>
                  <a:srgbClr val="1B2A41"/>
                </a:solidFill>
                <a:latin typeface="Calibri"/>
              </a:rPr>
              <a:t>A metric that ranks 'call nobody' above 'call the right 40%' is not a headline.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models/holdout_eval.json, models/metrics_cv.json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12 - WHAT DRIVES THE SCORE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The top driver is a blank field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640080" y="1819656"/>
            <a:ext cx="4582844" cy="402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contact carries 22.14% of importance, month 17.55% and day 10.60%: campaign-side features take 55.75% against 44.25% for the client's own.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contact = unknown contributes -1.0150 log-odds on 28.72% of clients, who subscribe at 4.11% against 14.83% for cellular.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The model is not saying those clients are bad prospects. It is saying it cannot tell.</a:t>
            </a:r>
          </a:p>
          <a:p>
            <a:pPr marL="201168" indent="-201168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6E6E"/>
              </a:buClr>
              <a:buFont typeface="Calibri"/>
              <a:buChar char="–"/>
            </a:pPr>
            <a:r>
              <a:rPr sz="1600" b="0" i="0">
                <a:solidFill>
                  <a:srgbClr val="1B2A41"/>
                </a:solidFill>
                <a:latin typeface="Calibri"/>
              </a:rPr>
              <a:t>Prohibition three: month is a calendar from a 2008-2010 recession. Schedule with it; never predict a person's answer from it.</a:t>
            </a:r>
          </a:p>
        </p:txBody>
      </p:sp>
      <p:pic>
        <p:nvPicPr>
          <p:cNvPr id="6" name="figure" descr="09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20" y="1819656"/>
            <a:ext cx="6017794" cy="351237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533820" y="5423473"/>
            <a:ext cx="6017794" cy="354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The twelve features by share of importance, each contribution's sign, and the shared one-hot blocks that keep the values additive.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models/shap_global.json, reports/shap_importance.csv, reports/figures/09_shap_summary.png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6E6E"/>
                </a:solidFill>
                <a:latin typeface="Calibri"/>
              </a:rPr>
              <a:t>13 - WHAT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76656"/>
            <a:ext cx="109115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B2A41"/>
                </a:solidFill>
                <a:latin typeface="Calibri"/>
              </a:rPr>
              <a:t>Eight actions, each with the number that would prove it wrong</a:t>
            </a:r>
          </a:p>
        </p:txBody>
      </p:sp>
      <p:sp>
        <p:nvSpPr>
          <p:cNvPr id="4" name="rule"/>
          <p:cNvSpPr/>
          <p:nvPr/>
        </p:nvSpPr>
        <p:spPr>
          <a:xfrm>
            <a:off x="640080" y="1591056"/>
            <a:ext cx="10911535" cy="16459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body"/>
          <p:cNvGraphicFramePr>
            <a:graphicFrameLocks noGrp="1"/>
          </p:cNvGraphicFramePr>
          <p:nvPr/>
        </p:nvGraphicFramePr>
        <p:xfrm>
          <a:off x="640080" y="1819656"/>
          <a:ext cx="10911534" cy="2551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4692"/>
                <a:gridCol w="3491691"/>
                <a:gridCol w="3164345"/>
                <a:gridCol w="3600806"/>
              </a:tblGrid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Headline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Falsified if</a:t>
                      </a:r>
                    </a:p>
                  </a:txBody>
                  <a:tcPr marL="64008" marR="45720" marT="27432" marB="27432" anchor="ctr">
                    <a:solidFill>
                      <a:srgbClr val="1B2A4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Make contact a required field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28.72% of clients at -1.0150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filled and the segment does not re-score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Call in model order, stop at 0.0750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+13,253.00 EUR, 21,302 fewer calls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a later campaign reaches under 60%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Do not stop where calls saved peaks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8,033 calls at 8.96%, +2,350.50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the held-out block replicates at scale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Never feed call duration to the model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+0.1788 PR-AUC, dead at dial time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a dialler can supply it before the call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Establish the value of a subscription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every euro is linear in V = 20.00 EUR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the bank publishes a true V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Track precision and net value, not accuracy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88.3003% from a model that finds nobody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a stakeholder accepts a cost-based cut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Keep the twelve-feature XGBoost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0.4460 against 0.4346 and 0.4008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a re-tune beats 0.4008 by over one SE</a:t>
                      </a: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Use month to schedule, never to predict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17.55% of importance, 2008-2010 confound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B2A41"/>
                          </a:solidFill>
                          <a:latin typeface="Calibri"/>
                        </a:rPr>
                        <a:t>a campaign outside the recession persists</a:t>
                      </a:r>
                    </a:p>
                  </a:txBody>
                  <a:tcPr marL="64008" marR="45720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640080" y="6126480"/>
            <a:ext cx="9997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models/playbook.json, reports/playbook.csv, docs/08_recommendations.md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1048695" y="6126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clients to call today</dc:title>
  <dc:subject>DepositIQ - bank telemarketing decisioning</dc:subject>
  <dc:creator>DepositIQ</dc:creator>
  <cp:keywords>term deposit; uplift; XGBoost; cost-sensitive threshold</cp:keywords>
  <dc:description>generated using python-pptx</dc:description>
  <cp:lastModifiedBy>DepositIQ</cp:lastModifiedBy>
  <cp:revision>1</cp:revision>
  <dcterms:created xsi:type="dcterms:W3CDTF">2026-10-30T09:00:00Z</dcterms:created>
  <dcterms:modified xsi:type="dcterms:W3CDTF">2026-10-30T09:00:00Z</dcterms:modified>
  <cp:category/>
</cp:coreProperties>
</file>