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ule"/>
          <p:cNvSpPr/>
          <p:nvPr/>
        </p:nvSpPr>
        <p:spPr>
          <a:xfrm>
            <a:off x="640080" y="1847088"/>
            <a:ext cx="1417320" cy="45720"/>
          </a:xfrm>
          <a:prstGeom prst="rect">
            <a:avLst/>
          </a:prstGeom>
          <a:solidFill>
            <a:srgbClr val="0F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kicker"/>
          <p:cNvSpPr txBox="1"/>
          <p:nvPr/>
        </p:nvSpPr>
        <p:spPr>
          <a:xfrm>
            <a:off x="640080" y="1417320"/>
            <a:ext cx="1091153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A9B4C4"/>
                </a:solidFill>
                <a:latin typeface="Calibri"/>
              </a:rPr>
              <a:t>DEPOSITIQ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640080" y="2103120"/>
            <a:ext cx="9814255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Which clients to call today</a:t>
            </a:r>
          </a:p>
        </p:txBody>
      </p:sp>
      <p:sp>
        <p:nvSpPr>
          <p:cNvPr id="6" name="subtitle"/>
          <p:cNvSpPr txBox="1"/>
          <p:nvPr/>
        </p:nvSpPr>
        <p:spPr>
          <a:xfrm>
            <a:off x="640080" y="3520440"/>
            <a:ext cx="8534095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 i="0">
                <a:solidFill>
                  <a:srgbClr val="A9B4C4"/>
                </a:solidFill>
                <a:latin typeface="Calibri"/>
              </a:rPr>
              <a:t>A ranking model for a bank telemarketing campaign, and the price at which</a:t>
            </a:r>
          </a:p>
          <a:p>
            <a:pPr>
              <a:lnSpc>
                <a:spcPct val="110000"/>
              </a:lnSpc>
            </a:pPr>
            <a:r>
              <a:rPr sz="1550" b="0" i="0">
                <a:solidFill>
                  <a:srgbClr val="A9B4C4"/>
                </a:solidFill>
                <a:latin typeface="Calibri"/>
              </a:rPr>
              <a:t>calling stops paying for itself.</a:t>
            </a:r>
          </a:p>
        </p:txBody>
      </p:sp>
      <p:sp>
        <p:nvSpPr>
          <p:cNvPr id="7" name="source"/>
          <p:cNvSpPr txBox="1"/>
          <p:nvPr/>
        </p:nvSpPr>
        <p:spPr>
          <a:xfrm>
            <a:off x="640080" y="5074920"/>
            <a:ext cx="98142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8E9BAE"/>
                </a:solidFill>
                <a:latin typeface="Calibri"/>
              </a:rPr>
              <a:t>45,211 clients   |   9,043 held out   |   XGBoost, 12 features   |   cut 0.0750</a:t>
            </a:r>
          </a:p>
        </p:txBody>
      </p:sp>
      <p:sp>
        <p:nvSpPr>
          <p:cNvPr id="8" name="footer"/>
          <p:cNvSpPr txBox="1"/>
          <p:nvPr/>
        </p:nvSpPr>
        <p:spPr>
          <a:xfrm>
            <a:off x="640080" y="6053328"/>
            <a:ext cx="981425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E7C91"/>
                </a:solidFill>
                <a:latin typeface="Calibri"/>
              </a:rPr>
              <a:t>mayurkusmade/depositiq-term-deposit-prediction   |   2026-10-30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F6E6E"/>
                </a:solidFill>
                <a:latin typeface="Calibri"/>
              </a:rPr>
              <a:t>THE ANSWER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676656"/>
            <a:ext cx="1091153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B2A41"/>
                </a:solidFill>
                <a:latin typeface="Calibri"/>
              </a:rPr>
              <a:t>Spend the same calls better, not fewer</a:t>
            </a:r>
          </a:p>
        </p:txBody>
      </p:sp>
      <p:sp>
        <p:nvSpPr>
          <p:cNvPr id="4" name="rule"/>
          <p:cNvSpPr/>
          <p:nvPr/>
        </p:nvSpPr>
        <p:spPr>
          <a:xfrm>
            <a:off x="640080" y="1591056"/>
            <a:ext cx="10911535" cy="16459"/>
          </a:xfrm>
          <a:prstGeom prst="rect">
            <a:avLst/>
          </a:prstGeom>
          <a:solidFill>
            <a:srgbClr val="D8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body"/>
          <p:cNvSpPr txBox="1"/>
          <p:nvPr/>
        </p:nvSpPr>
        <p:spPr>
          <a:xfrm>
            <a:off x="640080" y="1819656"/>
            <a:ext cx="5300319" cy="2587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  <a:buClr>
                <a:srgbClr val="0F6E6E"/>
              </a:buClr>
              <a:buFont typeface="Calibri"/>
              <a:buChar char="–"/>
            </a:pPr>
            <a:r>
              <a:rPr sz="1600" b="0" i="0">
                <a:solidFill>
                  <a:srgbClr val="1B2A41"/>
                </a:solidFill>
                <a:latin typeface="Calibri"/>
              </a:rPr>
              <a:t>At 1.50 EUR a call and a 20.00 EUR deposit, break-even is 7.50% - below the 11.6982% rate of the modelling half.</a:t>
            </a:r>
          </a:p>
          <a:p>
            <a:pPr marL="201168" indent="-201168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  <a:buClr>
                <a:srgbClr val="0F6E6E"/>
              </a:buClr>
              <a:buFont typeface="Calibri"/>
              <a:buChar char="–"/>
            </a:pPr>
            <a:r>
              <a:rPr sz="1600" b="0" i="0">
                <a:solidFill>
                  <a:srgbClr val="1B2A41"/>
                </a:solidFill>
                <a:latin typeface="Calibri"/>
              </a:rPr>
              <a:t>So this model converts a fixed call budget. It is not a case for cutting campaign spend.</a:t>
            </a:r>
          </a:p>
          <a:p>
            <a:pPr marL="201168" indent="-201168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  <a:buClr>
                <a:srgbClr val="0F6E6E"/>
              </a:buClr>
              <a:buFont typeface="Calibri"/>
              <a:buChar char="–"/>
            </a:pPr>
            <a:r>
              <a:rPr sz="1600" b="0" i="0">
                <a:solidFill>
                  <a:srgbClr val="1B2A41"/>
                </a:solidFill>
                <a:latin typeface="Calibri"/>
              </a:rPr>
              <a:t>Calling 41.10% of the list reaches 77.90% of subscribers: 43,621.00 EUR against 30,368.00 EUR for calling everyone.</a:t>
            </a:r>
          </a:p>
          <a:p>
            <a:pPr marL="201168" indent="-201168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F6E6E"/>
              </a:buClr>
              <a:buFont typeface="Calibri"/>
              <a:buChar char="–"/>
            </a:pPr>
            <a:r>
              <a:rPr sz="1600" b="0" i="0">
                <a:solidFill>
                  <a:srgbClr val="1B2A41"/>
                </a:solidFill>
                <a:latin typeface="Calibri"/>
              </a:rPr>
              <a:t>+13,253.00 EUR, on 21,302 fewer calls.</a:t>
            </a:r>
          </a:p>
        </p:txBody>
      </p:sp>
      <p:graphicFrame>
        <p:nvGraphicFramePr>
          <p:cNvPr id="6" name="body"/>
          <p:cNvGraphicFramePr>
            <a:graphicFrameLocks noGrp="1"/>
          </p:cNvGraphicFramePr>
          <p:nvPr/>
        </p:nvGraphicFramePr>
        <p:xfrm>
          <a:off x="6251295" y="1819656"/>
          <a:ext cx="5300318" cy="115163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802108"/>
                <a:gridCol w="1484089"/>
                <a:gridCol w="2014121"/>
              </a:tblGrid>
              <a:tr h="287909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Per campaign</a:t>
                      </a:r>
                    </a:p>
                  </a:txBody>
                  <a:tcPr marL="64008" marR="45720" marT="27432" marB="27432" anchor="ctr">
                    <a:solidFill>
                      <a:srgbClr val="1B2A4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Call everyone</a:t>
                      </a:r>
                    </a:p>
                  </a:txBody>
                  <a:tcPr marL="64008" marR="45720" marT="27432" marB="27432" anchor="ctr">
                    <a:solidFill>
                      <a:srgbClr val="1B2A4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Ranked, cut at 0.0750</a:t>
                      </a:r>
                    </a:p>
                  </a:txBody>
                  <a:tcPr marL="64008" marR="45720" marT="27432" marB="27432" anchor="ctr">
                    <a:solidFill>
                      <a:srgbClr val="1B2A41"/>
                    </a:solidFill>
                  </a:tcPr>
                </a:tc>
              </a:tr>
              <a:tr h="287909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B2A41"/>
                          </a:solidFill>
                          <a:latin typeface="Calibri"/>
                        </a:rPr>
                        <a:t>Calls made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B2A41"/>
                          </a:solidFill>
                          <a:latin typeface="Calibri"/>
                        </a:rPr>
                        <a:t>36,168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B2A41"/>
                          </a:solidFill>
                          <a:latin typeface="Calibri"/>
                        </a:rPr>
                        <a:t>14,866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</a:tr>
              <a:tr h="287909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B2A41"/>
                          </a:solidFill>
                          <a:latin typeface="Calibri"/>
                        </a:rPr>
                        <a:t>Subscribers reached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B2A41"/>
                          </a:solidFill>
                          <a:latin typeface="Calibri"/>
                        </a:rPr>
                        <a:t>4,231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B2A41"/>
                          </a:solidFill>
                          <a:latin typeface="Calibri"/>
                        </a:rPr>
                        <a:t>3,296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</a:tr>
              <a:tr h="287909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B2A41"/>
                          </a:solidFill>
                          <a:latin typeface="Calibri"/>
                        </a:rPr>
                        <a:t>Net value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B2A41"/>
                          </a:solidFill>
                          <a:latin typeface="Calibri"/>
                        </a:rPr>
                        <a:t>30,368.00 EUR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B2A41"/>
                          </a:solidFill>
                          <a:latin typeface="Calibri"/>
                        </a:rPr>
                        <a:t>43,621.00 EUR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body"/>
          <p:cNvSpPr txBox="1"/>
          <p:nvPr/>
        </p:nvSpPr>
        <p:spPr>
          <a:xfrm>
            <a:off x="6251295" y="3190748"/>
            <a:ext cx="5300319" cy="2405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F6E6E"/>
              </a:buClr>
              <a:buFont typeface="Calibri"/>
              <a:buChar char="–"/>
            </a:pPr>
            <a:r>
              <a:rPr sz="1300" b="0" i="0">
                <a:solidFill>
                  <a:srgbClr val="1B2A41"/>
                </a:solidFill>
                <a:latin typeface="Calibri"/>
              </a:rPr>
              <a:t>Held out: 10,988.50 EUR against 7,595.50, on 3,621 calls.</a:t>
            </a:r>
          </a:p>
        </p:txBody>
      </p:sp>
      <p:sp>
        <p:nvSpPr>
          <p:cNvPr id="8" name="source"/>
          <p:cNvSpPr txBox="1"/>
          <p:nvPr/>
        </p:nvSpPr>
        <p:spPr>
          <a:xfrm>
            <a:off x="640080" y="6126480"/>
            <a:ext cx="9997135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280"/>
                </a:solidFill>
                <a:latin typeface="Calibri"/>
              </a:rPr>
              <a:t>Source: models/playbook.json, models/threshold_choice.json</a:t>
            </a:r>
          </a:p>
        </p:txBody>
      </p:sp>
      <p:sp>
        <p:nvSpPr>
          <p:cNvPr id="9" name="footer"/>
          <p:cNvSpPr txBox="1"/>
          <p:nvPr/>
        </p:nvSpPr>
        <p:spPr>
          <a:xfrm>
            <a:off x="11048695" y="61264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Calibri"/>
              </a:rPr>
              <a:t>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F6E6E"/>
                </a:solidFill>
                <a:latin typeface="Calibri"/>
              </a:rPr>
              <a:t>1 - THE DECISION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676656"/>
            <a:ext cx="1091153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B2A41"/>
                </a:solidFill>
                <a:latin typeface="Calibri"/>
              </a:rPr>
              <a:t>Seven calls in eight are wasted</a:t>
            </a:r>
          </a:p>
        </p:txBody>
      </p:sp>
      <p:sp>
        <p:nvSpPr>
          <p:cNvPr id="4" name="rule"/>
          <p:cNvSpPr/>
          <p:nvPr/>
        </p:nvSpPr>
        <p:spPr>
          <a:xfrm>
            <a:off x="640080" y="1591056"/>
            <a:ext cx="10911535" cy="16459"/>
          </a:xfrm>
          <a:prstGeom prst="rect">
            <a:avLst/>
          </a:prstGeom>
          <a:solidFill>
            <a:srgbClr val="D8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body"/>
          <p:cNvSpPr txBox="1"/>
          <p:nvPr/>
        </p:nvSpPr>
        <p:spPr>
          <a:xfrm>
            <a:off x="640080" y="1819656"/>
            <a:ext cx="4582844" cy="28275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  <a:buClr>
                <a:srgbClr val="0F6E6E"/>
              </a:buClr>
              <a:buFont typeface="Calibri"/>
              <a:buChar char="–"/>
            </a:pPr>
            <a:r>
              <a:rPr sz="1600" b="0" i="0">
                <a:solidFill>
                  <a:srgbClr val="1B2A41"/>
                </a:solidFill>
                <a:latin typeface="Calibri"/>
              </a:rPr>
              <a:t>45,211 clients in the file; 5,289 subscribed - 11.70%, a 7.55 : 1 split.</a:t>
            </a:r>
          </a:p>
          <a:p>
            <a:pPr marL="201168" indent="-201168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  <a:buClr>
                <a:srgbClr val="0F6E6E"/>
              </a:buClr>
              <a:buFont typeface="Calibri"/>
              <a:buChar char="–"/>
            </a:pPr>
            <a:r>
              <a:rPr sz="1600" b="0" i="0">
                <a:solidFill>
                  <a:srgbClr val="1B2A41"/>
                </a:solidFill>
                <a:latin typeface="Calibri"/>
              </a:rPr>
              <a:t>Each day the bank has more clients than agents, so its decision is which clients to call.</a:t>
            </a:r>
          </a:p>
          <a:p>
            <a:pPr marL="201168" indent="-201168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  <a:buClr>
                <a:srgbClr val="0F6E6E"/>
              </a:buClr>
              <a:buFont typeface="Calibri"/>
              <a:buChar char="–"/>
            </a:pPr>
            <a:r>
              <a:rPr sz="1600" b="0" i="0">
                <a:solidFill>
                  <a:srgbClr val="1B2A41"/>
                </a:solidFill>
                <a:latin typeface="Calibri"/>
              </a:rPr>
              <a:t>The constraint is agent capacity, not budget: the unit of cost is one call.</a:t>
            </a:r>
          </a:p>
          <a:p>
            <a:pPr marL="201168" indent="-201168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F6E6E"/>
              </a:buClr>
              <a:buFont typeface="Calibri"/>
              <a:buChar char="–"/>
            </a:pPr>
            <a:r>
              <a:rPr sz="1600" b="0" i="0">
                <a:solidFill>
                  <a:srgbClr val="1B2A41"/>
                </a:solidFill>
                <a:latin typeface="Calibri"/>
              </a:rPr>
              <a:t>So the question is not 'will this client buy', but 'is this client worth a call today'.</a:t>
            </a:r>
          </a:p>
        </p:txBody>
      </p:sp>
      <p:pic>
        <p:nvPicPr>
          <p:cNvPr id="6" name="figure" descr="01_target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3820" y="1819656"/>
            <a:ext cx="6017794" cy="2386670"/>
          </a:xfrm>
          <a:prstGeom prst="rect">
            <a:avLst/>
          </a:prstGeom>
        </p:spPr>
      </p:pic>
      <p:sp>
        <p:nvSpPr>
          <p:cNvPr id="7" name="caption"/>
          <p:cNvSpPr txBox="1"/>
          <p:nvPr/>
        </p:nvSpPr>
        <p:spPr>
          <a:xfrm>
            <a:off x="5533820" y="4297765"/>
            <a:ext cx="6017794" cy="2047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 i="0">
                <a:solidFill>
                  <a:srgbClr val="6B7280"/>
                </a:solidFill>
                <a:latin typeface="Calibri"/>
              </a:rPr>
              <a:t>One deposit per 8.55 calls, so an unordered list wastes seven calls in eight.</a:t>
            </a:r>
          </a:p>
        </p:txBody>
      </p:sp>
      <p:sp>
        <p:nvSpPr>
          <p:cNvPr id="8" name="source"/>
          <p:cNvSpPr txBox="1"/>
          <p:nvPr/>
        </p:nvSpPr>
        <p:spPr>
          <a:xfrm>
            <a:off x="640080" y="6126480"/>
            <a:ext cx="9997135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280"/>
                </a:solidFill>
                <a:latin typeface="Calibri"/>
              </a:rPr>
              <a:t>Source: docs/01_problem_definition.md, models/threshold_choice.json</a:t>
            </a:r>
          </a:p>
        </p:txBody>
      </p:sp>
      <p:sp>
        <p:nvSpPr>
          <p:cNvPr id="9" name="footer"/>
          <p:cNvSpPr txBox="1"/>
          <p:nvPr/>
        </p:nvSpPr>
        <p:spPr>
          <a:xfrm>
            <a:off x="11048695" y="61264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Calibri"/>
              </a:rPr>
              <a:t>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F6E6E"/>
                </a:solidFill>
                <a:latin typeface="Calibri"/>
              </a:rPr>
              <a:t>2 - THE COST MODEL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676656"/>
            <a:ext cx="1091153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B2A41"/>
                </a:solidFill>
                <a:latin typeface="Calibri"/>
              </a:rPr>
              <a:t>The cut is a price, not a parameter</a:t>
            </a:r>
          </a:p>
        </p:txBody>
      </p:sp>
      <p:sp>
        <p:nvSpPr>
          <p:cNvPr id="4" name="rule"/>
          <p:cNvSpPr/>
          <p:nvPr/>
        </p:nvSpPr>
        <p:spPr>
          <a:xfrm>
            <a:off x="640080" y="1591056"/>
            <a:ext cx="10911535" cy="16459"/>
          </a:xfrm>
          <a:prstGeom prst="rect">
            <a:avLst/>
          </a:prstGeom>
          <a:solidFill>
            <a:srgbClr val="D8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body"/>
          <p:cNvSpPr txBox="1"/>
          <p:nvPr/>
        </p:nvSpPr>
        <p:spPr>
          <a:xfrm>
            <a:off x="640080" y="1819656"/>
            <a:ext cx="5300319" cy="28275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  <a:buClr>
                <a:srgbClr val="0F6E6E"/>
              </a:buClr>
              <a:buFont typeface="Calibri"/>
              <a:buChar char="–"/>
            </a:pPr>
            <a:r>
              <a:rPr sz="1600" b="0" i="0">
                <a:solidFill>
                  <a:srgbClr val="1B2A41"/>
                </a:solidFill>
                <a:latin typeface="Calibri"/>
              </a:rPr>
              <a:t>A call costs C = 1.50 EUR; a captured deposit is worth V = 20.00 EUR. Both are assumptions, and both are declared as such.</a:t>
            </a:r>
          </a:p>
          <a:p>
            <a:pPr marL="201168" indent="-201168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  <a:buClr>
                <a:srgbClr val="0F6E6E"/>
              </a:buClr>
              <a:buFont typeface="Calibri"/>
              <a:buChar char="–"/>
            </a:pPr>
            <a:r>
              <a:rPr sz="1600" b="0" i="0">
                <a:solidFill>
                  <a:srgbClr val="1B2A41"/>
                </a:solidFill>
                <a:latin typeface="Calibri"/>
              </a:rPr>
              <a:t>Call when V x p &gt; C, so the break-even probability is p* = C / V = 7.50%.</a:t>
            </a:r>
          </a:p>
          <a:p>
            <a:pPr marL="201168" indent="-201168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  <a:buClr>
                <a:srgbClr val="0F6E6E"/>
              </a:buClr>
              <a:buFont typeface="Calibri"/>
              <a:buChar char="–"/>
            </a:pPr>
            <a:r>
              <a:rPr sz="1600" b="0" i="0">
                <a:solidFill>
                  <a:srgbClr val="1B2A41"/>
                </a:solidFill>
                <a:latin typeface="Calibri"/>
              </a:rPr>
              <a:t>Every euro here is linear in V: at 40.00 EUR the cut halves and the totals double.</a:t>
            </a:r>
          </a:p>
          <a:p>
            <a:pPr marL="201168" indent="-201168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F6E6E"/>
              </a:buClr>
              <a:buFont typeface="Calibri"/>
              <a:buChar char="–"/>
            </a:pPr>
            <a:r>
              <a:rPr sz="1600" b="0" i="0">
                <a:solidFill>
                  <a:srgbClr val="1B2A41"/>
                </a:solidFill>
                <a:latin typeface="Calibri"/>
              </a:rPr>
              <a:t>The ranking does not move, which is why the decisions rest on order and the euros stay labelled.</a:t>
            </a:r>
          </a:p>
        </p:txBody>
      </p:sp>
      <p:graphicFrame>
        <p:nvGraphicFramePr>
          <p:cNvPr id="6" name="body"/>
          <p:cNvGraphicFramePr>
            <a:graphicFrameLocks noGrp="1"/>
          </p:cNvGraphicFramePr>
          <p:nvPr/>
        </p:nvGraphicFramePr>
        <p:xfrm>
          <a:off x="6251295" y="1819656"/>
          <a:ext cx="5300319" cy="1439545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08115"/>
                <a:gridCol w="1166070"/>
                <a:gridCol w="2226134"/>
              </a:tblGrid>
              <a:tr h="287909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 marL="64008" marR="45720" marT="27432" marB="27432" anchor="ctr">
                    <a:solidFill>
                      <a:srgbClr val="1B2A4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L="64008" marR="45720" marT="27432" marB="27432" anchor="ctr">
                    <a:solidFill>
                      <a:srgbClr val="1B2A4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Where it comes from</a:t>
                      </a:r>
                    </a:p>
                  </a:txBody>
                  <a:tcPr marL="64008" marR="45720" marT="27432" marB="27432" anchor="ctr">
                    <a:solidFill>
                      <a:srgbClr val="1B2A41"/>
                    </a:solidFill>
                  </a:tcPr>
                </a:tc>
              </a:tr>
              <a:tr h="287909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B2A41"/>
                          </a:solidFill>
                          <a:latin typeface="Calibri"/>
                        </a:rPr>
                        <a:t>C, cost of a call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B2A41"/>
                          </a:solidFill>
                          <a:latin typeface="Calibri"/>
                        </a:rPr>
                        <a:t>1.50 EUR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B2A41"/>
                          </a:solidFill>
                          <a:latin typeface="Calibri"/>
                        </a:rPr>
                        <a:t>assumption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</a:tr>
              <a:tr h="287909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B2A41"/>
                          </a:solidFill>
                          <a:latin typeface="Calibri"/>
                        </a:rPr>
                        <a:t>V, value of a deposit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B2A41"/>
                          </a:solidFill>
                          <a:latin typeface="Calibri"/>
                        </a:rPr>
                        <a:t>20.00 EUR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B2A41"/>
                          </a:solidFill>
                          <a:latin typeface="Calibri"/>
                        </a:rPr>
                        <a:t>assumption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</a:tr>
              <a:tr h="287909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B2A41"/>
                          </a:solidFill>
                          <a:latin typeface="Calibri"/>
                        </a:rPr>
                        <a:t>p*, break-even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B2A41"/>
                          </a:solidFill>
                          <a:latin typeface="Calibri"/>
                        </a:rPr>
                        <a:t>7.50%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B2A41"/>
                          </a:solidFill>
                          <a:latin typeface="Calibri"/>
                        </a:rPr>
                        <a:t>C / V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</a:tr>
              <a:tr h="287909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B2A41"/>
                          </a:solidFill>
                          <a:latin typeface="Calibri"/>
                        </a:rPr>
                        <a:t>Base rate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B2A41"/>
                          </a:solidFill>
                          <a:latin typeface="Calibri"/>
                        </a:rPr>
                        <a:t>11.6982%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B2A41"/>
                          </a:solidFill>
                          <a:latin typeface="Calibri"/>
                        </a:rPr>
                        <a:t>measured: 4,231 in 45,211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7" name="source"/>
          <p:cNvSpPr txBox="1"/>
          <p:nvPr/>
        </p:nvSpPr>
        <p:spPr>
          <a:xfrm>
            <a:off x="640080" y="6126480"/>
            <a:ext cx="9997135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280"/>
                </a:solidFill>
                <a:latin typeface="Calibri"/>
              </a:rPr>
              <a:t>Source: src/cost.py, models/threshold_choice.json, docs/01_problem_definition.md</a:t>
            </a:r>
          </a:p>
        </p:txBody>
      </p:sp>
      <p:sp>
        <p:nvSpPr>
          <p:cNvPr id="8" name="footer"/>
          <p:cNvSpPr txBox="1"/>
          <p:nvPr/>
        </p:nvSpPr>
        <p:spPr>
          <a:xfrm>
            <a:off x="11048695" y="61264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Calibri"/>
              </a:rPr>
              <a:t>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F6E6E"/>
                </a:solidFill>
                <a:latin typeface="Calibri"/>
              </a:rPr>
              <a:t>3 - THE DATA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676656"/>
            <a:ext cx="1091153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B2A41"/>
                </a:solidFill>
                <a:latin typeface="Calibri"/>
              </a:rPr>
              <a:t>No missing values, and that is the problem</a:t>
            </a:r>
          </a:p>
        </p:txBody>
      </p:sp>
      <p:sp>
        <p:nvSpPr>
          <p:cNvPr id="4" name="rule"/>
          <p:cNvSpPr/>
          <p:nvPr/>
        </p:nvSpPr>
        <p:spPr>
          <a:xfrm>
            <a:off x="640080" y="1591056"/>
            <a:ext cx="10911535" cy="16459"/>
          </a:xfrm>
          <a:prstGeom prst="rect">
            <a:avLst/>
          </a:prstGeom>
          <a:solidFill>
            <a:srgbClr val="D8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body"/>
          <p:cNvSpPr txBox="1"/>
          <p:nvPr/>
        </p:nvSpPr>
        <p:spPr>
          <a:xfrm>
            <a:off x="640080" y="1819656"/>
            <a:ext cx="9326880" cy="2715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  <a:buClr>
                <a:srgbClr val="0F6E6E"/>
              </a:buClr>
              <a:buFont typeface="Calibri"/>
              <a:buChar char="–"/>
            </a:pPr>
            <a:r>
              <a:rPr sz="1600" b="0" i="0">
                <a:solidFill>
                  <a:srgbClr val="1B2A41"/>
                </a:solidFill>
                <a:latin typeface="Calibri"/>
              </a:rPr>
              <a:t>Zero NaN in 45,211 rows: missingness arrives as a literal string. poutcome = unknown covers 81.7%; contact = unknown covers 28.8%.</a:t>
            </a:r>
          </a:p>
          <a:p>
            <a:pPr marL="201168" indent="-201168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  <a:buClr>
                <a:srgbClr val="0F6E6E"/>
              </a:buClr>
              <a:buFont typeface="Calibri"/>
              <a:buChar char="–"/>
            </a:pPr>
            <a:r>
              <a:rPr sz="1600" b="0" i="0">
                <a:solidFill>
                  <a:srgbClr val="1B2A41"/>
                </a:solidFill>
                <a:latin typeface="Calibri"/>
              </a:rPr>
              <a:t>pdays = -1 means 'never contacted', not 'minus one day'. Read as a number it returns a mean of 40.2 days that no client has.</a:t>
            </a:r>
          </a:p>
          <a:p>
            <a:pPr marL="201168" indent="-201168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  <a:buClr>
                <a:srgbClr val="0F6E6E"/>
              </a:buClr>
              <a:buFont typeface="Calibri"/>
              <a:buChar char="–"/>
            </a:pPr>
            <a:r>
              <a:rPr sz="1600" b="0" i="0">
                <a:solidFill>
                  <a:srgbClr val="1B2A41"/>
                </a:solidFill>
                <a:latin typeface="Calibri"/>
              </a:rPr>
              <a:t>pdays and days_since_contact carry the same number on all 6,584 rows where both exist: a duplicate, not a correlation.</a:t>
            </a:r>
          </a:p>
          <a:p>
            <a:pPr marL="201168" indent="-201168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  <a:buClr>
                <a:srgbClr val="0F6E6E"/>
              </a:buClr>
              <a:buFont typeface="Calibri"/>
              <a:buChar char="–"/>
            </a:pPr>
            <a:r>
              <a:rPr sz="1600" b="0" i="0">
                <a:solidFill>
                  <a:srgbClr val="1B2A41"/>
                </a:solidFill>
                <a:latin typeface="Calibri"/>
              </a:rPr>
              <a:t>The two unknowns are different objects. poutcome = unknown is a fact about the bank; contact = unknown is a failure to record.</a:t>
            </a:r>
          </a:p>
          <a:p>
            <a:pPr marL="201168" indent="-201168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F6E6E"/>
              </a:buClr>
              <a:buFont typeface="Calibri"/>
              <a:buChar char="–"/>
            </a:pPr>
            <a:r>
              <a:rPr sz="1600" b="0" i="0">
                <a:solidFill>
                  <a:srgbClr val="1B2A41"/>
                </a:solidFill>
                <a:latin typeface="Calibri"/>
              </a:rPr>
              <a:t>So one becomes a level and the other becomes recommendation R1.</a:t>
            </a:r>
          </a:p>
        </p:txBody>
      </p:sp>
      <p:sp>
        <p:nvSpPr>
          <p:cNvPr id="6" name="source"/>
          <p:cNvSpPr txBox="1"/>
          <p:nvPr/>
        </p:nvSpPr>
        <p:spPr>
          <a:xfrm>
            <a:off x="640080" y="6126480"/>
            <a:ext cx="9997135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280"/>
                </a:solidFill>
                <a:latin typeface="Calibri"/>
              </a:rPr>
              <a:t>Source: docs/02_data_dictionary.md, docs/05_leakage_audit.md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11048695" y="61264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Calibri"/>
              </a:rPr>
              <a:t>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F6E6E"/>
                </a:solidFill>
                <a:latin typeface="Calibri"/>
              </a:rPr>
              <a:t>4 - WHAT THE CAMPAIGN ALREADY GETS WRONG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676656"/>
            <a:ext cx="1091153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B2A41"/>
                </a:solidFill>
                <a:latin typeface="Calibri"/>
              </a:rPr>
              <a:t>The fourth call costs more than it earns</a:t>
            </a:r>
          </a:p>
        </p:txBody>
      </p:sp>
      <p:sp>
        <p:nvSpPr>
          <p:cNvPr id="4" name="rule"/>
          <p:cNvSpPr/>
          <p:nvPr/>
        </p:nvSpPr>
        <p:spPr>
          <a:xfrm>
            <a:off x="640080" y="1591056"/>
            <a:ext cx="10911535" cy="16459"/>
          </a:xfrm>
          <a:prstGeom prst="rect">
            <a:avLst/>
          </a:prstGeom>
          <a:solidFill>
            <a:srgbClr val="D8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body"/>
          <p:cNvSpPr txBox="1"/>
          <p:nvPr/>
        </p:nvSpPr>
        <p:spPr>
          <a:xfrm>
            <a:off x="640080" y="1819656"/>
            <a:ext cx="4582844" cy="3914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  <a:buClr>
                <a:srgbClr val="0F6E6E"/>
              </a:buClr>
              <a:buFont typeface="Calibri"/>
              <a:buChar char="–"/>
            </a:pPr>
            <a:r>
              <a:rPr sz="1600" b="0" i="0">
                <a:solidFill>
                  <a:srgbClr val="1B2A41"/>
                </a:solidFill>
                <a:latin typeface="Calibri"/>
              </a:rPr>
              <a:t>poutcome = success converts at 64.65% - 779 of 1,205 clients - and is known before the call.</a:t>
            </a:r>
          </a:p>
          <a:p>
            <a:pPr marL="201168" indent="-201168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  <a:buClr>
                <a:srgbClr val="0F6E6E"/>
              </a:buClr>
              <a:buFont typeface="Calibri"/>
              <a:buChar char="–"/>
            </a:pPr>
            <a:r>
              <a:rPr sz="1600" b="0" i="0">
                <a:solidFill>
                  <a:srgbClr val="1B2A41"/>
                </a:solidFill>
                <a:latin typeface="Calibri"/>
              </a:rPr>
              <a:t>Clients needing 4 or more calls hold 52.68% of the calls for 13.47% of the successes.</a:t>
            </a:r>
          </a:p>
          <a:p>
            <a:pPr marL="201168" indent="-201168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  <a:buClr>
                <a:srgbClr val="0F6E6E"/>
              </a:buClr>
              <a:buFont typeface="Calibri"/>
              <a:buChar char="–"/>
            </a:pPr>
            <a:r>
              <a:rPr sz="1600" b="0" i="0">
                <a:solidFill>
                  <a:srgbClr val="1B2A41"/>
                </a:solidFill>
                <a:latin typeface="Calibri"/>
              </a:rPr>
              <a:t>The first three calls convert at 7.7386%, just above the price; the extra calls at 1.9298%.</a:t>
            </a:r>
          </a:p>
          <a:p>
            <a:pPr marL="201168" indent="-201168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  <a:buClr>
                <a:srgbClr val="0F6E6E"/>
              </a:buClr>
              <a:buFont typeface="Calibri"/>
              <a:buChar char="–"/>
            </a:pPr>
            <a:r>
              <a:rPr sz="1600" b="0" i="0">
                <a:solidFill>
                  <a:srgbClr val="1B2A41"/>
                </a:solidFill>
                <a:latin typeface="Calibri"/>
              </a:rPr>
              <a:t>That tail is 32,906 EUR of agent time against a 20.00 EUR deposit.</a:t>
            </a:r>
          </a:p>
          <a:p>
            <a:pPr marL="201168" indent="-201168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F6E6E"/>
              </a:buClr>
              <a:buFont typeface="Calibri"/>
              <a:buChar char="–"/>
            </a:pPr>
            <a:r>
              <a:rPr sz="1600" b="0" i="0">
                <a:solidFill>
                  <a:srgbClr val="1B2A41"/>
                </a:solidFill>
                <a:latin typeface="Calibri"/>
              </a:rPr>
              <a:t>The cap must be targeted: 93.28% of the tail has no known outcome, while poutcome = success still returns 22.55% a call.</a:t>
            </a:r>
          </a:p>
        </p:txBody>
      </p:sp>
      <p:pic>
        <p:nvPicPr>
          <p:cNvPr id="6" name="figure" descr="04_campaign_vs_targ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3820" y="1819656"/>
            <a:ext cx="6017794" cy="3533138"/>
          </a:xfrm>
          <a:prstGeom prst="rect">
            <a:avLst/>
          </a:prstGeom>
        </p:spPr>
      </p:pic>
      <p:sp>
        <p:nvSpPr>
          <p:cNvPr id="7" name="caption"/>
          <p:cNvSpPr txBox="1"/>
          <p:nvPr/>
        </p:nvSpPr>
        <p:spPr>
          <a:xfrm>
            <a:off x="5533820" y="5444233"/>
            <a:ext cx="6017794" cy="2047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 i="0">
                <a:solidFill>
                  <a:srgbClr val="6B7280"/>
                </a:solidFill>
                <a:latin typeface="Calibri"/>
              </a:rPr>
              <a:t>Call count, contact type and prior outcome, against the price line.</a:t>
            </a:r>
          </a:p>
        </p:txBody>
      </p:sp>
      <p:sp>
        <p:nvSpPr>
          <p:cNvPr id="8" name="source"/>
          <p:cNvSpPr txBox="1"/>
          <p:nvPr/>
        </p:nvSpPr>
        <p:spPr>
          <a:xfrm>
            <a:off x="640080" y="6126480"/>
            <a:ext cx="9997135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280"/>
                </a:solidFill>
                <a:latin typeface="Calibri"/>
              </a:rPr>
              <a:t>Source: docs/04_eda_insights.md, reports/figures/04_campaign_vs_target.png</a:t>
            </a:r>
          </a:p>
        </p:txBody>
      </p:sp>
      <p:sp>
        <p:nvSpPr>
          <p:cNvPr id="9" name="footer"/>
          <p:cNvSpPr txBox="1"/>
          <p:nvPr/>
        </p:nvSpPr>
        <p:spPr>
          <a:xfrm>
            <a:off x="11048695" y="61264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Calibri"/>
              </a:rPr>
              <a:t>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F6E6E"/>
                </a:solidFill>
                <a:latin typeface="Calibri"/>
              </a:rPr>
              <a:t>5 - LEAKAGE: PROHIBITION ONE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676656"/>
            <a:ext cx="1091153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B2A41"/>
                </a:solidFill>
                <a:latin typeface="Calibri"/>
              </a:rPr>
              <a:t>The column that doubles the money and must not be used</a:t>
            </a:r>
          </a:p>
        </p:txBody>
      </p:sp>
      <p:sp>
        <p:nvSpPr>
          <p:cNvPr id="4" name="rule"/>
          <p:cNvSpPr/>
          <p:nvPr/>
        </p:nvSpPr>
        <p:spPr>
          <a:xfrm>
            <a:off x="640080" y="1591056"/>
            <a:ext cx="10911535" cy="16459"/>
          </a:xfrm>
          <a:prstGeom prst="rect">
            <a:avLst/>
          </a:prstGeom>
          <a:solidFill>
            <a:srgbClr val="D8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body"/>
          <p:cNvSpPr txBox="1"/>
          <p:nvPr/>
        </p:nvSpPr>
        <p:spPr>
          <a:xfrm>
            <a:off x="640080" y="1819656"/>
            <a:ext cx="5300319" cy="28275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  <a:buClr>
                <a:srgbClr val="0F6E6E"/>
              </a:buClr>
              <a:buFont typeface="Calibri"/>
              <a:buChar char="–"/>
            </a:pPr>
            <a:r>
              <a:rPr sz="1600" b="0" i="0">
                <a:solidFill>
                  <a:srgbClr val="1B2A41"/>
                </a:solidFill>
                <a:latin typeface="Calibri"/>
              </a:rPr>
              <a:t>duration is the length of the call. It is recorded after the call ends, so it does not exist when today's list is built.</a:t>
            </a:r>
          </a:p>
          <a:p>
            <a:pPr marL="201168" indent="-201168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  <a:buClr>
                <a:srgbClr val="0F6E6E"/>
              </a:buClr>
              <a:buFont typeface="Calibri"/>
              <a:buChar char="–"/>
            </a:pPr>
            <a:r>
              <a:rPr sz="1600" b="0" i="0">
                <a:solidFill>
                  <a:srgbClr val="1B2A41"/>
                </a:solidFill>
                <a:latin typeface="Calibri"/>
              </a:rPr>
              <a:t>Alone it reaches ROC-AUC 0.8078, more than the shipped model. Its bands climb from 0.16% under a minute to 48.56% at ten minutes or more.</a:t>
            </a:r>
          </a:p>
          <a:p>
            <a:pPr marL="201168" indent="-201168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  <a:buClr>
                <a:srgbClr val="0F6E6E"/>
              </a:buClr>
              <a:buFont typeface="Calibri"/>
              <a:buChar char="–"/>
            </a:pPr>
            <a:r>
              <a:rPr sz="1600" b="0" i="0">
                <a:solidFill>
                  <a:srgbClr val="1B2A41"/>
                </a:solidFill>
                <a:latin typeface="Calibri"/>
              </a:rPr>
              <a:t>Given to the model it adds 0.1788 PR-AUC and 20,340.00 EUR.</a:t>
            </a:r>
          </a:p>
          <a:p>
            <a:pPr marL="201168" indent="-201168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F6E6E"/>
              </a:buClr>
              <a:buFont typeface="Calibri"/>
              <a:buChar char="–"/>
            </a:pPr>
            <a:r>
              <a:rPr sz="1600" b="0" i="0">
                <a:solidFill>
                  <a:srgbClr val="1B2A41"/>
                </a:solidFill>
                <a:latin typeface="Calibri"/>
              </a:rPr>
              <a:t>The verdict came from a rule written before the numbers existed, and it says leakage.</a:t>
            </a:r>
          </a:p>
        </p:txBody>
      </p:sp>
      <p:graphicFrame>
        <p:nvGraphicFramePr>
          <p:cNvPr id="6" name="body"/>
          <p:cNvGraphicFramePr>
            <a:graphicFrameLocks noGrp="1"/>
          </p:cNvGraphicFramePr>
          <p:nvPr/>
        </p:nvGraphicFramePr>
        <p:xfrm>
          <a:off x="6251295" y="1819656"/>
          <a:ext cx="5300317" cy="120395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20127"/>
                <a:gridCol w="954057"/>
                <a:gridCol w="954057"/>
                <a:gridCol w="1272076"/>
              </a:tblGrid>
              <a:tr h="283464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Arm</a:t>
                      </a:r>
                    </a:p>
                  </a:txBody>
                  <a:tcPr marL="64008" marR="45720" marT="27432" marB="27432" anchor="ctr">
                    <a:solidFill>
                      <a:srgbClr val="1B2A4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PR-AUC</a:t>
                      </a:r>
                    </a:p>
                  </a:txBody>
                  <a:tcPr marL="64008" marR="45720" marT="27432" marB="27432" anchor="ctr">
                    <a:solidFill>
                      <a:srgbClr val="1B2A4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ROC-AUC</a:t>
                      </a:r>
                    </a:p>
                  </a:txBody>
                  <a:tcPr marL="64008" marR="45720" marT="27432" marB="27432" anchor="ctr">
                    <a:solidFill>
                      <a:srgbClr val="1B2A4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Net at 7.50%</a:t>
                      </a:r>
                    </a:p>
                  </a:txBody>
                  <a:tcPr marL="64008" marR="45720" marT="27432" marB="27432" anchor="ctr">
                    <a:solidFill>
                      <a:srgbClr val="1B2A41"/>
                    </a:solidFill>
                  </a:tcPr>
                </a:tc>
              </a:tr>
              <a:tr h="460247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1B2A41"/>
                          </a:solidFill>
                          <a:latin typeface="Calibri"/>
                        </a:rPr>
                        <a:t>A - without duration (ships)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1B2A41"/>
                          </a:solidFill>
                          <a:latin typeface="Calibri"/>
                        </a:rPr>
                        <a:t>0.4460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1B2A41"/>
                          </a:solidFill>
                          <a:latin typeface="Calibri"/>
                        </a:rPr>
                        <a:t>0.7990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1B2A41"/>
                          </a:solidFill>
                          <a:latin typeface="Calibri"/>
                        </a:rPr>
                        <a:t>43,621.00 EUR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</a:tr>
              <a:tr h="460247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1B2A41"/>
                          </a:solidFill>
                          <a:latin typeface="Calibri"/>
                        </a:rPr>
                        <a:t>B - with duration (diagnostic)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1B2A41"/>
                          </a:solidFill>
                          <a:latin typeface="Calibri"/>
                        </a:rPr>
                        <a:t>0.6254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1B2A41"/>
                          </a:solidFill>
                          <a:latin typeface="Calibri"/>
                        </a:rPr>
                        <a:t>0.9360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1B2A41"/>
                          </a:solidFill>
                          <a:latin typeface="Calibri"/>
                        </a:rPr>
                        <a:t>63,961.00 EUR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7" name="body"/>
          <p:cNvSpPr txBox="1"/>
          <p:nvPr/>
        </p:nvSpPr>
        <p:spPr>
          <a:xfrm>
            <a:off x="6251295" y="3243072"/>
            <a:ext cx="5300319" cy="4353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F6E6E"/>
              </a:buClr>
              <a:buFont typeface="Calibri"/>
              <a:buChar char="–"/>
            </a:pPr>
            <a:r>
              <a:rPr sz="1300" b="0" i="0">
                <a:solidFill>
                  <a:srgbClr val="1B2A41"/>
                </a:solidFill>
                <a:latin typeface="Calibri"/>
              </a:rPr>
              <a:t>Arm A ships regardless: the column does not exist at the moment a decision is made.</a:t>
            </a:r>
          </a:p>
        </p:txBody>
      </p:sp>
      <p:sp>
        <p:nvSpPr>
          <p:cNvPr id="8" name="source"/>
          <p:cNvSpPr txBox="1"/>
          <p:nvPr/>
        </p:nvSpPr>
        <p:spPr>
          <a:xfrm>
            <a:off x="640080" y="6126480"/>
            <a:ext cx="9997135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280"/>
                </a:solidFill>
                <a:latin typeface="Calibri"/>
              </a:rPr>
              <a:t>Source: models/duration_comparison.json, docs/05_leakage_audit.md</a:t>
            </a:r>
          </a:p>
        </p:txBody>
      </p:sp>
      <p:sp>
        <p:nvSpPr>
          <p:cNvPr id="9" name="footer"/>
          <p:cNvSpPr txBox="1"/>
          <p:nvPr/>
        </p:nvSpPr>
        <p:spPr>
          <a:xfrm>
            <a:off x="11048695" y="61264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Calibri"/>
              </a:rPr>
              <a:t>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F6E6E"/>
                </a:solidFill>
                <a:latin typeface="Calibri"/>
              </a:rPr>
              <a:t>6 - FEATURES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676656"/>
            <a:ext cx="1091153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B2A41"/>
                </a:solidFill>
                <a:latin typeface="Calibri"/>
              </a:rPr>
              <a:t>Seventeen features became twelve, and the loss was measured</a:t>
            </a:r>
          </a:p>
        </p:txBody>
      </p:sp>
      <p:sp>
        <p:nvSpPr>
          <p:cNvPr id="4" name="rule"/>
          <p:cNvSpPr/>
          <p:nvPr/>
        </p:nvSpPr>
        <p:spPr>
          <a:xfrm>
            <a:off x="640080" y="1591056"/>
            <a:ext cx="10911535" cy="16459"/>
          </a:xfrm>
          <a:prstGeom prst="rect">
            <a:avLst/>
          </a:prstGeom>
          <a:solidFill>
            <a:srgbClr val="D8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body"/>
          <p:cNvSpPr txBox="1"/>
          <p:nvPr/>
        </p:nvSpPr>
        <p:spPr>
          <a:xfrm>
            <a:off x="640080" y="1819656"/>
            <a:ext cx="4582844" cy="4026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  <a:buClr>
                <a:srgbClr val="0F6E6E"/>
              </a:buClr>
              <a:buFont typeface="Calibri"/>
              <a:buChar char="–"/>
            </a:pPr>
            <a:r>
              <a:rPr sz="1600" b="0" i="0">
                <a:solidFill>
                  <a:srgbClr val="1B2A41"/>
                </a:solidFill>
                <a:latin typeface="Calibri"/>
              </a:rPr>
              <a:t>Five engineered columns replace their raw ones rather than sit beside them; balance through arsinh takes absolute skew from 8.34 to 1.68.</a:t>
            </a:r>
          </a:p>
          <a:p>
            <a:pPr marL="201168" indent="-201168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  <a:buClr>
                <a:srgbClr val="0F6E6E"/>
              </a:buClr>
              <a:buFont typeface="Calibri"/>
              <a:buChar char="–"/>
            </a:pPr>
            <a:r>
              <a:rPr sz="1600" b="0" i="0">
                <a:solidFill>
                  <a:srgbClr val="1B2A41"/>
                </a:solidFill>
                <a:latin typeface="Calibri"/>
              </a:rPr>
              <a:t>Two rankings over the same 17 features - mutual information and permutation importance - correlate at +0.647.</a:t>
            </a:r>
          </a:p>
          <a:p>
            <a:pPr marL="201168" indent="-201168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  <a:buClr>
                <a:srgbClr val="0F6E6E"/>
              </a:buClr>
              <a:buFont typeface="Calibri"/>
              <a:buChar char="–"/>
            </a:pPr>
            <a:r>
              <a:rPr sz="1600" b="0" i="0">
                <a:solidFill>
                  <a:srgbClr val="1B2A41"/>
                </a:solidFill>
                <a:latin typeface="Calibri"/>
              </a:rPr>
              <a:t>Removing the five nominated features costs 0.00014 +/- 0.00195 ROC-AUC, with 3 of 5 folds improving, so the one-standard-error rule drops them.</a:t>
            </a:r>
          </a:p>
          <a:p>
            <a:pPr marL="201168" indent="-201168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F6E6E"/>
              </a:buClr>
              <a:buFont typeface="Calibri"/>
              <a:buChar char="–"/>
            </a:pPr>
            <a:r>
              <a:rPr sz="1600" b="0" i="0">
                <a:solidFill>
                  <a:srgbClr val="1B2A41"/>
                </a:solidFill>
                <a:latin typeface="Calibri"/>
              </a:rPr>
              <a:t>Re-measured per model: the forest loses 0.0014 +/- 0.0024 and the booster 0.0001 +/- 0.0008. The matrix goes from 65 columns to 40.</a:t>
            </a:r>
          </a:p>
        </p:txBody>
      </p:sp>
      <p:pic>
        <p:nvPicPr>
          <p:cNvPr id="6" name="figure" descr="06_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3820" y="1819656"/>
            <a:ext cx="6017794" cy="3317262"/>
          </a:xfrm>
          <a:prstGeom prst="rect">
            <a:avLst/>
          </a:prstGeom>
        </p:spPr>
      </p:pic>
      <p:sp>
        <p:nvSpPr>
          <p:cNvPr id="7" name="caption"/>
          <p:cNvSpPr txBox="1"/>
          <p:nvPr/>
        </p:nvSpPr>
        <p:spPr>
          <a:xfrm>
            <a:off x="5533820" y="5228358"/>
            <a:ext cx="6017794" cy="2047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 i="0">
                <a:solidFill>
                  <a:srgbClr val="6B7280"/>
                </a:solidFill>
                <a:latin typeface="Calibri"/>
              </a:rPr>
              <a:t>Two rankings, each feature's own permutation null, and the five dropped features hatched.</a:t>
            </a:r>
          </a:p>
        </p:txBody>
      </p:sp>
      <p:sp>
        <p:nvSpPr>
          <p:cNvPr id="8" name="source"/>
          <p:cNvSpPr txBox="1"/>
          <p:nvPr/>
        </p:nvSpPr>
        <p:spPr>
          <a:xfrm>
            <a:off x="640080" y="6126480"/>
            <a:ext cx="9997135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280"/>
                </a:solidFill>
                <a:latin typeface="Calibri"/>
              </a:rPr>
              <a:t>Source: docs/05_leakage_audit.md, reports/figures/06_feature_importance.png</a:t>
            </a:r>
          </a:p>
        </p:txBody>
      </p:sp>
      <p:sp>
        <p:nvSpPr>
          <p:cNvPr id="9" name="footer"/>
          <p:cNvSpPr txBox="1"/>
          <p:nvPr/>
        </p:nvSpPr>
        <p:spPr>
          <a:xfrm>
            <a:off x="11048695" y="61264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Calibri"/>
              </a:rPr>
              <a:t>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F6E6E"/>
                </a:solidFill>
                <a:latin typeface="Calibri"/>
              </a:rPr>
              <a:t>7 - MODELS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676656"/>
            <a:ext cx="1091153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B2A41"/>
                </a:solidFill>
                <a:latin typeface="Calibri"/>
              </a:rPr>
              <a:t>One harness, seven builds, and a fix that made it worse</a:t>
            </a:r>
          </a:p>
        </p:txBody>
      </p:sp>
      <p:sp>
        <p:nvSpPr>
          <p:cNvPr id="4" name="rule"/>
          <p:cNvSpPr/>
          <p:nvPr/>
        </p:nvSpPr>
        <p:spPr>
          <a:xfrm>
            <a:off x="640080" y="1591056"/>
            <a:ext cx="10911535" cy="16459"/>
          </a:xfrm>
          <a:prstGeom prst="rect">
            <a:avLst/>
          </a:prstGeom>
          <a:solidFill>
            <a:srgbClr val="D8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body"/>
          <p:cNvGraphicFramePr>
            <a:graphicFrameLocks noGrp="1"/>
          </p:cNvGraphicFramePr>
          <p:nvPr/>
        </p:nvGraphicFramePr>
        <p:xfrm>
          <a:off x="640080" y="1819656"/>
          <a:ext cx="5300318" cy="226771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802108"/>
                <a:gridCol w="848051"/>
                <a:gridCol w="901054"/>
                <a:gridCol w="848051"/>
                <a:gridCol w="901054"/>
              </a:tblGrid>
              <a:tr h="283464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Build</a:t>
                      </a:r>
                    </a:p>
                  </a:txBody>
                  <a:tcPr marL="64008" marR="45720" marT="27432" marB="27432" anchor="ctr">
                    <a:solidFill>
                      <a:srgbClr val="1B2A4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PR-AUC</a:t>
                      </a:r>
                    </a:p>
                  </a:txBody>
                  <a:tcPr marL="64008" marR="45720" marT="27432" marB="27432" anchor="ctr">
                    <a:solidFill>
                      <a:srgbClr val="1B2A4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ROC-AUC</a:t>
                      </a:r>
                    </a:p>
                  </a:txBody>
                  <a:tcPr marL="64008" marR="45720" marT="27432" marB="27432" anchor="ctr">
                    <a:solidFill>
                      <a:srgbClr val="1B2A4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Brier</a:t>
                      </a:r>
                    </a:p>
                  </a:txBody>
                  <a:tcPr marL="64008" marR="45720" marT="27432" marB="27432" anchor="ctr">
                    <a:solidFill>
                      <a:srgbClr val="1B2A4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Role</a:t>
                      </a:r>
                    </a:p>
                  </a:txBody>
                  <a:tcPr marL="64008" marR="45720" marT="27432" marB="27432" anchor="ctr">
                    <a:solidFill>
                      <a:srgbClr val="1B2A41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B2A41"/>
                          </a:solidFill>
                          <a:latin typeface="Calibri"/>
                        </a:rPr>
                        <a:t>dummy_prior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B2A41"/>
                          </a:solidFill>
                          <a:latin typeface="Calibri"/>
                        </a:rPr>
                        <a:t>0.1170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B2A41"/>
                          </a:solidFill>
                          <a:latin typeface="Calibri"/>
                        </a:rPr>
                        <a:t>0.5000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B2A41"/>
                          </a:solidFill>
                          <a:latin typeface="Calibri"/>
                        </a:rPr>
                        <a:t>0.1033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B2A41"/>
                          </a:solidFill>
                          <a:latin typeface="Calibri"/>
                        </a:rPr>
                        <a:t>floor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B2A41"/>
                          </a:solidFill>
                          <a:latin typeface="Calibri"/>
                        </a:rPr>
                        <a:t>logreg_balanced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B2A41"/>
                          </a:solidFill>
                          <a:latin typeface="Calibri"/>
                        </a:rPr>
                        <a:t>0.4008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B2A41"/>
                          </a:solidFill>
                          <a:latin typeface="Calibri"/>
                        </a:rPr>
                        <a:t>0.7640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B2A41"/>
                          </a:solidFill>
                          <a:latin typeface="Calibri"/>
                        </a:rPr>
                        <a:t>0.1852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B2A41"/>
                          </a:solidFill>
                          <a:latin typeface="Calibri"/>
                        </a:rPr>
                        <a:t>baseline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B2A41"/>
                          </a:solidFill>
                          <a:latin typeface="Calibri"/>
                        </a:rPr>
                        <a:t>random_forest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B2A41"/>
                          </a:solidFill>
                          <a:latin typeface="Calibri"/>
                        </a:rPr>
                        <a:t>0.4346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B2A41"/>
                          </a:solidFill>
                          <a:latin typeface="Calibri"/>
                        </a:rPr>
                        <a:t>0.7906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B2A41"/>
                          </a:solidFill>
                          <a:latin typeface="Calibri"/>
                        </a:rPr>
                        <a:t>0.1403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B2A41"/>
                          </a:solidFill>
                          <a:latin typeface="Calibri"/>
                        </a:rPr>
                        <a:t>candidate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B2A41"/>
                          </a:solidFill>
                          <a:latin typeface="Calibri"/>
                        </a:rPr>
                        <a:t>XGBoost, weighted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B2A41"/>
                          </a:solidFill>
                          <a:latin typeface="Calibri"/>
                        </a:rPr>
                        <a:t>0.4420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B2A41"/>
                          </a:solidFill>
                          <a:latin typeface="Calibri"/>
                        </a:rPr>
                        <a:t>0.7993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B2A41"/>
                          </a:solidFill>
                          <a:latin typeface="Calibri"/>
                        </a:rPr>
                        <a:t>0.1637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B2A41"/>
                          </a:solidFill>
                          <a:latin typeface="Calibri"/>
                        </a:rPr>
                        <a:t>candidate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B2A41"/>
                          </a:solidFill>
                          <a:latin typeface="Calibri"/>
                        </a:rPr>
                        <a:t>XGBoost, untreated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B2A41"/>
                          </a:solidFill>
                          <a:latin typeface="Calibri"/>
                        </a:rPr>
                        <a:t>0.4444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B2A41"/>
                          </a:solidFill>
                          <a:latin typeface="Calibri"/>
                        </a:rPr>
                        <a:t>0.7993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B2A41"/>
                          </a:solidFill>
                          <a:latin typeface="Calibri"/>
                        </a:rPr>
                        <a:t>0.0821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B2A41"/>
                          </a:solidFill>
                          <a:latin typeface="Calibri"/>
                        </a:rPr>
                        <a:t>candidate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B2A41"/>
                          </a:solidFill>
                          <a:latin typeface="Calibri"/>
                        </a:rPr>
                        <a:t>XGBoost, SMOTE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B2A41"/>
                          </a:solidFill>
                          <a:latin typeface="Calibri"/>
                        </a:rPr>
                        <a:t>0.4152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B2A41"/>
                          </a:solidFill>
                          <a:latin typeface="Calibri"/>
                        </a:rPr>
                        <a:t>0.7799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B2A41"/>
                          </a:solidFill>
                          <a:latin typeface="Calibri"/>
                        </a:rPr>
                        <a:t>0.1221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B2A41"/>
                          </a:solidFill>
                          <a:latin typeface="Calibri"/>
                        </a:rPr>
                        <a:t>rejected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B2A41"/>
                          </a:solidFill>
                          <a:latin typeface="Calibri"/>
                        </a:rPr>
                        <a:t>XGBoost, tuned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B2A41"/>
                          </a:solidFill>
                          <a:latin typeface="Calibri"/>
                        </a:rPr>
                        <a:t>0.4460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B2A41"/>
                          </a:solidFill>
                          <a:latin typeface="Calibri"/>
                        </a:rPr>
                        <a:t>0.7990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B2A41"/>
                          </a:solidFill>
                          <a:latin typeface="Calibri"/>
                        </a:rPr>
                        <a:t>0.0818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B2A41"/>
                          </a:solidFill>
                          <a:latin typeface="Calibri"/>
                        </a:rPr>
                        <a:t>shipped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body"/>
          <p:cNvSpPr txBox="1"/>
          <p:nvPr/>
        </p:nvSpPr>
        <p:spPr>
          <a:xfrm>
            <a:off x="6251295" y="1819656"/>
            <a:ext cx="5300319" cy="33070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  <a:buClr>
                <a:srgbClr val="0F6E6E"/>
              </a:buClr>
              <a:buFont typeface="Calibri"/>
              <a:buChar char="–"/>
            </a:pPr>
            <a:r>
              <a:rPr sz="1600" b="0" i="0">
                <a:solidFill>
                  <a:srgbClr val="1B2A41"/>
                </a:solidFill>
                <a:latin typeface="Calibri"/>
              </a:rPr>
              <a:t>Same folds, same rows, same scorer for every build - 36,168 training rows and 4,231 positives.</a:t>
            </a:r>
          </a:p>
          <a:p>
            <a:pPr marL="201168" indent="-201168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  <a:buClr>
                <a:srgbClr val="0F6E6E"/>
              </a:buClr>
              <a:buFont typeface="Calibri"/>
              <a:buChar char="–"/>
            </a:pPr>
            <a:r>
              <a:rPr sz="1600" b="0" i="0">
                <a:solidFill>
                  <a:srgbClr val="1B2A41"/>
                </a:solidFill>
                <a:latin typeface="Calibri"/>
              </a:rPr>
              <a:t>Ranking and calibration are separate problems: the logistic baseline ranks at 0.7640 ROC-AUC while predicting 0.4161 on average against a 0.1170 base rate.</a:t>
            </a:r>
          </a:p>
          <a:p>
            <a:pPr marL="201168" indent="-201168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  <a:buClr>
                <a:srgbClr val="0F6E6E"/>
              </a:buClr>
              <a:buFont typeface="Calibri"/>
              <a:buChar char="–"/>
            </a:pPr>
            <a:r>
              <a:rPr sz="1600" b="0" i="0">
                <a:solidFill>
                  <a:srgbClr val="1B2A41"/>
                </a:solidFill>
                <a:latin typeface="Calibri"/>
              </a:rPr>
              <a:t>SMOTE lost in 0 of 5 folds and ran three times slower; the class weight bought no ranking and halved the Brier score.</a:t>
            </a:r>
          </a:p>
          <a:p>
            <a:pPr marL="201168" indent="-201168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F6E6E"/>
              </a:buClr>
              <a:buFont typeface="Calibri"/>
              <a:buChar char="–"/>
            </a:pPr>
            <a:r>
              <a:rPr sz="1600" b="0" i="0">
                <a:solidFill>
                  <a:srgbClr val="1B2A41"/>
                </a:solidFill>
                <a:latin typeface="Calibri"/>
              </a:rPr>
              <a:t>Tuning added 0.00165 +/- 0.00286 - 0.58 SE - so the tuned point is kept for not being worse, not for being better.</a:t>
            </a:r>
          </a:p>
        </p:txBody>
      </p:sp>
      <p:sp>
        <p:nvSpPr>
          <p:cNvPr id="7" name="source"/>
          <p:cNvSpPr txBox="1"/>
          <p:nvPr/>
        </p:nvSpPr>
        <p:spPr>
          <a:xfrm>
            <a:off x="640080" y="6126480"/>
            <a:ext cx="9997135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280"/>
                </a:solidFill>
                <a:latin typeface="Calibri"/>
              </a:rPr>
              <a:t>Source: models/cv_results.json, models/imbalance_results.json, models/final_model.json</a:t>
            </a:r>
          </a:p>
        </p:txBody>
      </p:sp>
      <p:sp>
        <p:nvSpPr>
          <p:cNvPr id="8" name="footer"/>
          <p:cNvSpPr txBox="1"/>
          <p:nvPr/>
        </p:nvSpPr>
        <p:spPr>
          <a:xfrm>
            <a:off x="11048695" y="61264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Calibri"/>
              </a:rPr>
              <a:t>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F6E6E"/>
                </a:solidFill>
                <a:latin typeface="Calibri"/>
              </a:rPr>
              <a:t>8 - THE OPERATING POINT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676656"/>
            <a:ext cx="1091153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B2A41"/>
                </a:solidFill>
                <a:latin typeface="Calibri"/>
              </a:rPr>
              <a:t>The cut is the price the bank already pays</a:t>
            </a:r>
          </a:p>
        </p:txBody>
      </p:sp>
      <p:sp>
        <p:nvSpPr>
          <p:cNvPr id="4" name="rule"/>
          <p:cNvSpPr/>
          <p:nvPr/>
        </p:nvSpPr>
        <p:spPr>
          <a:xfrm>
            <a:off x="640080" y="1591056"/>
            <a:ext cx="10911535" cy="16459"/>
          </a:xfrm>
          <a:prstGeom prst="rect">
            <a:avLst/>
          </a:prstGeom>
          <a:solidFill>
            <a:srgbClr val="D8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body"/>
          <p:cNvGraphicFramePr>
            <a:graphicFrameLocks noGrp="1"/>
          </p:cNvGraphicFramePr>
          <p:nvPr/>
        </p:nvGraphicFramePr>
        <p:xfrm>
          <a:off x="640080" y="1819656"/>
          <a:ext cx="4582843" cy="170078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741481"/>
                <a:gridCol w="870740"/>
                <a:gridCol w="870740"/>
                <a:gridCol w="1099882"/>
              </a:tblGrid>
              <a:tr h="283464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Cut</a:t>
                      </a:r>
                    </a:p>
                  </a:txBody>
                  <a:tcPr marL="64008" marR="45720" marT="27432" marB="27432" anchor="ctr">
                    <a:solidFill>
                      <a:srgbClr val="1B2A4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Calls</a:t>
                      </a:r>
                    </a:p>
                  </a:txBody>
                  <a:tcPr marL="64008" marR="45720" marT="27432" marB="27432" anchor="ctr">
                    <a:solidFill>
                      <a:srgbClr val="1B2A4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Reached</a:t>
                      </a:r>
                    </a:p>
                  </a:txBody>
                  <a:tcPr marL="64008" marR="45720" marT="27432" marB="27432" anchor="ctr">
                    <a:solidFill>
                      <a:srgbClr val="1B2A4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Net value</a:t>
                      </a:r>
                    </a:p>
                  </a:txBody>
                  <a:tcPr marL="64008" marR="45720" marT="27432" marB="27432" anchor="ctr">
                    <a:solidFill>
                      <a:srgbClr val="1B2A41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B2A41"/>
                          </a:solidFill>
                          <a:latin typeface="Calibri"/>
                        </a:rPr>
                        <a:t>Call everyone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B2A41"/>
                          </a:solidFill>
                          <a:latin typeface="Calibri"/>
                        </a:rPr>
                        <a:t>36,168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B2A41"/>
                          </a:solidFill>
                          <a:latin typeface="Calibri"/>
                        </a:rPr>
                        <a:t>4,231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B2A41"/>
                          </a:solidFill>
                          <a:latin typeface="Calibri"/>
                        </a:rPr>
                        <a:t>30,368.00 EUR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B2A41"/>
                          </a:solidFill>
                          <a:latin typeface="Calibri"/>
                        </a:rPr>
                        <a:t>0.5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B2A4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B2A4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B2A41"/>
                          </a:solidFill>
                          <a:latin typeface="Calibri"/>
                        </a:rPr>
                        <a:t>18,248.00 EUR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B2A41"/>
                          </a:solidFill>
                          <a:latin typeface="Calibri"/>
                        </a:rPr>
                        <a:t>F1 cut 0.2103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B2A4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B2A41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B2A41"/>
                          </a:solidFill>
                          <a:latin typeface="Calibri"/>
                        </a:rPr>
                        <a:t>36,891.00 EUR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B2A41"/>
                          </a:solidFill>
                          <a:latin typeface="Calibri"/>
                        </a:rPr>
                        <a:t>Price 0.0750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B2A41"/>
                          </a:solidFill>
                          <a:latin typeface="Calibri"/>
                        </a:rPr>
                        <a:t>14,866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B2A41"/>
                          </a:solidFill>
                          <a:latin typeface="Calibri"/>
                        </a:rPr>
                        <a:t>3,296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B2A41"/>
                          </a:solidFill>
                          <a:latin typeface="Calibri"/>
                        </a:rPr>
                        <a:t>43,621.00 EUR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B2A41"/>
                          </a:solidFill>
                          <a:latin typeface="Calibri"/>
                        </a:rPr>
                        <a:t>Empirical peak 0.0821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B2A41"/>
                          </a:solidFill>
                          <a:latin typeface="Calibri"/>
                        </a:rPr>
                        <a:t>13,247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B2A41"/>
                          </a:solidFill>
                          <a:latin typeface="Calibri"/>
                        </a:rPr>
                        <a:t>3,194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1B2A41"/>
                          </a:solidFill>
                          <a:latin typeface="Calibri"/>
                        </a:rPr>
                        <a:t>44,009.50 EUR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body"/>
          <p:cNvSpPr txBox="1"/>
          <p:nvPr/>
        </p:nvSpPr>
        <p:spPr>
          <a:xfrm>
            <a:off x="640080" y="3739896"/>
            <a:ext cx="4582844" cy="16654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  <a:buClr>
                <a:srgbClr val="0F6E6E"/>
              </a:buClr>
              <a:buFont typeface="Calibri"/>
              <a:buChar char="–"/>
            </a:pPr>
            <a:r>
              <a:rPr sz="1300" b="0" i="0">
                <a:solidFill>
                  <a:srgbClr val="1B2A41"/>
                </a:solidFill>
                <a:latin typeface="Calibri"/>
              </a:rPr>
              <a:t>The peak is worth 388.50 EUR more, and is chosen by looking at the data it then scores.</a:t>
            </a:r>
          </a:p>
          <a:p>
            <a:pPr marL="201168" indent="-201168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  <a:buClr>
                <a:srgbClr val="0F6E6E"/>
              </a:buClr>
              <a:buFont typeface="Calibri"/>
              <a:buChar char="–"/>
            </a:pPr>
            <a:r>
              <a:rPr sz="1300" b="0" i="0">
                <a:solidFill>
                  <a:srgbClr val="1B2A41"/>
                </a:solidFill>
                <a:latin typeface="Calibri"/>
              </a:rPr>
              <a:t>0.0750 sits 0.0004 above the bottom of the 1%-of-peak plateau: the most aggressive cut still within 1% of the best.</a:t>
            </a:r>
          </a:p>
          <a:p>
            <a:pPr marL="201168" indent="-201168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F6E6E"/>
              </a:buClr>
              <a:buFont typeface="Calibri"/>
              <a:buChar char="–"/>
            </a:pPr>
            <a:r>
              <a:rPr sz="1300" b="0" i="0">
                <a:solidFill>
                  <a:srgbClr val="1B2A41"/>
                </a:solidFill>
                <a:latin typeface="Calibri"/>
              </a:rPr>
              <a:t>ROI is a trap of its own: 0.5 posts 765% and loses money in absolute terms.</a:t>
            </a:r>
          </a:p>
        </p:txBody>
      </p:sp>
      <p:pic>
        <p:nvPicPr>
          <p:cNvPr id="7" name="figure" descr="07_threshold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3820" y="1819656"/>
            <a:ext cx="6017794" cy="2056832"/>
          </a:xfrm>
          <a:prstGeom prst="rect">
            <a:avLst/>
          </a:prstGeom>
        </p:spPr>
      </p:pic>
      <p:sp>
        <p:nvSpPr>
          <p:cNvPr id="8" name="caption"/>
          <p:cNvSpPr txBox="1"/>
          <p:nvPr/>
        </p:nvSpPr>
        <p:spPr>
          <a:xfrm>
            <a:off x="5533820" y="3967928"/>
            <a:ext cx="6017794" cy="3545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 i="0">
                <a:solidFill>
                  <a:srgbClr val="6B7280"/>
                </a:solidFill>
                <a:latin typeface="Calibri"/>
              </a:rPr>
              <a:t>Net value against the cut, with the price, the 1%-of-peak plateau and both empirical argmaxes marked.</a:t>
            </a:r>
          </a:p>
        </p:txBody>
      </p:sp>
      <p:sp>
        <p:nvSpPr>
          <p:cNvPr id="9" name="source"/>
          <p:cNvSpPr txBox="1"/>
          <p:nvPr/>
        </p:nvSpPr>
        <p:spPr>
          <a:xfrm>
            <a:off x="640080" y="6126480"/>
            <a:ext cx="9997135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280"/>
                </a:solidFill>
                <a:latin typeface="Calibri"/>
              </a:rPr>
              <a:t>Source: models/threshold_choice.json, reports/figures/07_threshold_curve.png</a:t>
            </a:r>
          </a:p>
        </p:txBody>
      </p:sp>
      <p:sp>
        <p:nvSpPr>
          <p:cNvPr id="10" name="footer"/>
          <p:cNvSpPr txBox="1"/>
          <p:nvPr/>
        </p:nvSpPr>
        <p:spPr>
          <a:xfrm>
            <a:off x="11048695" y="61264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Calibri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F6E6E"/>
                </a:solidFill>
                <a:latin typeface="Calibri"/>
              </a:rPr>
              <a:t>9 - HELD OUT, SPENT ONCE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676656"/>
            <a:ext cx="1091153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B2A41"/>
                </a:solidFill>
                <a:latin typeface="Calibri"/>
              </a:rPr>
              <a:t>On clients it never saw, the ranking holds</a:t>
            </a:r>
          </a:p>
        </p:txBody>
      </p:sp>
      <p:sp>
        <p:nvSpPr>
          <p:cNvPr id="4" name="rule"/>
          <p:cNvSpPr/>
          <p:nvPr/>
        </p:nvSpPr>
        <p:spPr>
          <a:xfrm>
            <a:off x="640080" y="1591056"/>
            <a:ext cx="10911535" cy="16459"/>
          </a:xfrm>
          <a:prstGeom prst="rect">
            <a:avLst/>
          </a:prstGeom>
          <a:solidFill>
            <a:srgbClr val="D8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body"/>
          <p:cNvGraphicFramePr>
            <a:graphicFrameLocks noGrp="1"/>
          </p:cNvGraphicFramePr>
          <p:nvPr/>
        </p:nvGraphicFramePr>
        <p:xfrm>
          <a:off x="640080" y="1819656"/>
          <a:ext cx="5300318" cy="1439545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26134"/>
                <a:gridCol w="1537092"/>
                <a:gridCol w="1537092"/>
              </a:tblGrid>
              <a:tr h="287909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L="64008" marR="45720" marT="27432" marB="27432" anchor="ctr">
                    <a:solidFill>
                      <a:srgbClr val="1B2A4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Held out</a:t>
                      </a:r>
                    </a:p>
                  </a:txBody>
                  <a:tcPr marL="64008" marR="45720" marT="27432" marB="27432" anchor="ctr">
                    <a:solidFill>
                      <a:srgbClr val="1B2A4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Cross-validated</a:t>
                      </a:r>
                    </a:p>
                  </a:txBody>
                  <a:tcPr marL="64008" marR="45720" marT="27432" marB="27432" anchor="ctr">
                    <a:solidFill>
                      <a:srgbClr val="1B2A41"/>
                    </a:solidFill>
                  </a:tcPr>
                </a:tc>
              </a:tr>
              <a:tr h="287909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B2A41"/>
                          </a:solidFill>
                          <a:latin typeface="Calibri"/>
                        </a:rPr>
                        <a:t>PR-AUC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B2A41"/>
                          </a:solidFill>
                          <a:latin typeface="Calibri"/>
                        </a:rPr>
                        <a:t>0.4616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B2A41"/>
                          </a:solidFill>
                          <a:latin typeface="Calibri"/>
                        </a:rPr>
                        <a:t>0.4460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</a:tr>
              <a:tr h="287909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B2A41"/>
                          </a:solidFill>
                          <a:latin typeface="Calibri"/>
                        </a:rPr>
                        <a:t>ROC-AUC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B2A41"/>
                          </a:solidFill>
                          <a:latin typeface="Calibri"/>
                        </a:rPr>
                        <a:t>0.8052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B2A41"/>
                          </a:solidFill>
                          <a:latin typeface="Calibri"/>
                        </a:rPr>
                        <a:t>0.7990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</a:tr>
              <a:tr h="287909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B2A41"/>
                          </a:solidFill>
                          <a:latin typeface="Calibri"/>
                        </a:rPr>
                        <a:t>Brier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B2A41"/>
                          </a:solidFill>
                          <a:latin typeface="Calibri"/>
                        </a:rPr>
                        <a:t>0.0804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B2A41"/>
                          </a:solidFill>
                          <a:latin typeface="Calibri"/>
                        </a:rPr>
                        <a:t>0.0818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</a:tr>
              <a:tr h="287909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B2A41"/>
                          </a:solidFill>
                          <a:latin typeface="Calibri"/>
                        </a:rPr>
                        <a:t>Mean prediction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B2A41"/>
                          </a:solidFill>
                          <a:latin typeface="Calibri"/>
                        </a:rPr>
                        <a:t>0.1151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B2A41"/>
                          </a:solidFill>
                          <a:latin typeface="Calibri"/>
                        </a:rPr>
                        <a:t>0.1166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6" name="body"/>
          <p:cNvSpPr txBox="1"/>
          <p:nvPr/>
        </p:nvSpPr>
        <p:spPr>
          <a:xfrm>
            <a:off x="6251295" y="1819656"/>
            <a:ext cx="5300319" cy="30673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  <a:buClr>
                <a:srgbClr val="0F6E6E"/>
              </a:buClr>
              <a:buFont typeface="Calibri"/>
              <a:buChar char="–"/>
            </a:pPr>
            <a:r>
              <a:rPr sz="1600" b="0" i="0">
                <a:solidFill>
                  <a:srgbClr val="1B2A41"/>
                </a:solidFill>
                <a:latin typeface="Calibri"/>
              </a:rPr>
              <a:t>The artifact was loaded, not refitted, and scored once on 9,043 rows holding 1,058 subscribers.</a:t>
            </a:r>
          </a:p>
          <a:p>
            <a:pPr marL="201168" indent="-201168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  <a:buClr>
                <a:srgbClr val="0F6E6E"/>
              </a:buClr>
              <a:buFont typeface="Calibri"/>
              <a:buChar char="–"/>
            </a:pPr>
            <a:r>
              <a:rPr sz="1600" b="0" i="0">
                <a:solidFill>
                  <a:srgbClr val="1B2A41"/>
                </a:solidFill>
                <a:latin typeface="Calibri"/>
              </a:rPr>
              <a:t>Net value 10,988.50 EUR against 7,595.50 for calling everyone, at a recall of 77.60%.</a:t>
            </a:r>
          </a:p>
          <a:p>
            <a:pPr marL="201168" indent="-201168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  <a:buClr>
                <a:srgbClr val="0F6E6E"/>
              </a:buClr>
              <a:buFont typeface="Calibri"/>
              <a:buChar char="–"/>
            </a:pPr>
            <a:r>
              <a:rPr sz="1600" b="0" i="0">
                <a:solidFill>
                  <a:srgbClr val="1B2A41"/>
                </a:solidFill>
                <a:latin typeface="Calibri"/>
              </a:rPr>
              <a:t>The gap of 0.0155 is not a gain: the bootstrap over these same rows spans 0.4304 to 0.4969, which is 0.92 standard deviations.</a:t>
            </a:r>
          </a:p>
          <a:p>
            <a:pPr marL="201168" indent="-201168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F6E6E"/>
              </a:buClr>
              <a:buFont typeface="Calibri"/>
              <a:buChar char="–"/>
            </a:pPr>
            <a:r>
              <a:rPr sz="1600" b="0" i="0">
                <a:solidFill>
                  <a:srgbClr val="1B2A41"/>
                </a:solidFill>
                <a:latin typeface="Calibri"/>
              </a:rPr>
              <a:t>What this does not say: the prices are assumptions, the split is random rather than temporal, and the held-out rows are the same campaign.</a:t>
            </a:r>
          </a:p>
        </p:txBody>
      </p:sp>
      <p:sp>
        <p:nvSpPr>
          <p:cNvPr id="7" name="source"/>
          <p:cNvSpPr txBox="1"/>
          <p:nvPr/>
        </p:nvSpPr>
        <p:spPr>
          <a:xfrm>
            <a:off x="640080" y="6126480"/>
            <a:ext cx="9997135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280"/>
                </a:solidFill>
                <a:latin typeface="Calibri"/>
              </a:rPr>
              <a:t>Source: models/holdout_eval.json, models/metrics_cv.json</a:t>
            </a:r>
          </a:p>
        </p:txBody>
      </p:sp>
      <p:sp>
        <p:nvSpPr>
          <p:cNvPr id="8" name="footer"/>
          <p:cNvSpPr txBox="1"/>
          <p:nvPr/>
        </p:nvSpPr>
        <p:spPr>
          <a:xfrm>
            <a:off x="11048695" y="61264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Calibri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F6E6E"/>
                </a:solidFill>
                <a:latin typeface="Calibri"/>
              </a:rPr>
              <a:t>10 - LIFT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676656"/>
            <a:ext cx="1091153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B2A41"/>
                </a:solidFill>
                <a:latin typeface="Calibri"/>
              </a:rPr>
              <a:t>The top tenth of the list converts 4.5 times the base rate</a:t>
            </a:r>
          </a:p>
        </p:txBody>
      </p:sp>
      <p:sp>
        <p:nvSpPr>
          <p:cNvPr id="4" name="rule"/>
          <p:cNvSpPr/>
          <p:nvPr/>
        </p:nvSpPr>
        <p:spPr>
          <a:xfrm>
            <a:off x="640080" y="1591056"/>
            <a:ext cx="10911535" cy="16459"/>
          </a:xfrm>
          <a:prstGeom prst="rect">
            <a:avLst/>
          </a:prstGeom>
          <a:solidFill>
            <a:srgbClr val="D8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body"/>
          <p:cNvSpPr txBox="1"/>
          <p:nvPr/>
        </p:nvSpPr>
        <p:spPr>
          <a:xfrm>
            <a:off x="640080" y="1819656"/>
            <a:ext cx="4582844" cy="3914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  <a:buClr>
                <a:srgbClr val="0F6E6E"/>
              </a:buClr>
              <a:buFont typeface="Calibri"/>
              <a:buChar char="–"/>
            </a:pPr>
            <a:r>
              <a:rPr sz="1600" b="0" i="0">
                <a:solidFill>
                  <a:srgbClr val="1B2A41"/>
                </a:solidFill>
                <a:latin typeface="Calibri"/>
              </a:rPr>
              <a:t>Top decile lift 4.5100 held out and 4.3652 out of fold; that decile holds 45.09% of all subscribers.</a:t>
            </a:r>
          </a:p>
          <a:p>
            <a:pPr marL="201168" indent="-201168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  <a:buClr>
                <a:srgbClr val="0F6E6E"/>
              </a:buClr>
              <a:buFont typeface="Calibri"/>
              <a:buChar char="–"/>
            </a:pPr>
            <a:r>
              <a:rPr sz="1600" b="0" i="0">
                <a:solidFill>
                  <a:srgbClr val="1B2A41"/>
                </a:solidFill>
                <a:latin typeface="Calibri"/>
              </a:rPr>
              <a:t>Decile 3 is already below random at 0.88 - past the best fifth, the model's message is 'do not call'.</a:t>
            </a:r>
          </a:p>
          <a:p>
            <a:pPr marL="201168" indent="-201168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  <a:buClr>
                <a:srgbClr val="0F6E6E"/>
              </a:buClr>
              <a:buFont typeface="Calibri"/>
              <a:buChar char="–"/>
            </a:pPr>
            <a:r>
              <a:rPr sz="1600" b="0" i="0">
                <a:solidFill>
                  <a:srgbClr val="1B2A41"/>
                </a:solidFill>
                <a:latin typeface="Calibri"/>
              </a:rPr>
              <a:t>The adopted cut saves 13,309 calls, 19,964 EUR, against a fixed order needing 28,175.</a:t>
            </a:r>
          </a:p>
          <a:p>
            <a:pPr marL="201168" indent="-201168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  <a:buClr>
                <a:srgbClr val="0F6E6E"/>
              </a:buClr>
              <a:buFont typeface="Calibri"/>
              <a:buChar char="–"/>
            </a:pPr>
            <a:r>
              <a:rPr sz="1600" b="0" i="0">
                <a:solidFill>
                  <a:srgbClr val="1B2A41"/>
                </a:solidFill>
                <a:latin typeface="Calibri"/>
              </a:rPr>
              <a:t>Calls saved peaks at 18.89% coverage, before the cut; the 8,033 calls between them still convert at 8.96%.</a:t>
            </a:r>
          </a:p>
          <a:p>
            <a:pPr marL="201168" indent="-201168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F6E6E"/>
              </a:buClr>
              <a:buFont typeface="Calibri"/>
              <a:buChar char="–"/>
            </a:pPr>
            <a:r>
              <a:rPr sz="1600" b="0" i="0">
                <a:solidFill>
                  <a:srgbClr val="1B2A41"/>
                </a:solidFill>
                <a:latin typeface="Calibri"/>
              </a:rPr>
              <a:t>A shuffled-score self-test reruns the table on noise and finds lifts of 0.950 to 1.108.</a:t>
            </a:r>
          </a:p>
        </p:txBody>
      </p:sp>
      <p:pic>
        <p:nvPicPr>
          <p:cNvPr id="6" name="figure" descr="08_lift_g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3820" y="1819656"/>
            <a:ext cx="6017794" cy="2050525"/>
          </a:xfrm>
          <a:prstGeom prst="rect">
            <a:avLst/>
          </a:prstGeom>
        </p:spPr>
      </p:pic>
      <p:sp>
        <p:nvSpPr>
          <p:cNvPr id="7" name="caption"/>
          <p:cNvSpPr txBox="1"/>
          <p:nvPr/>
        </p:nvSpPr>
        <p:spPr>
          <a:xfrm>
            <a:off x="5533820" y="3961621"/>
            <a:ext cx="6017794" cy="2047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 i="0">
                <a:solidFill>
                  <a:srgbClr val="6B7280"/>
                </a:solidFill>
                <a:latin typeface="Calibri"/>
              </a:rPr>
              <a:t>Lift and cumulative gain per decile on both halves, each against its own base rate.</a:t>
            </a:r>
          </a:p>
        </p:txBody>
      </p:sp>
      <p:sp>
        <p:nvSpPr>
          <p:cNvPr id="8" name="source"/>
          <p:cNvSpPr txBox="1"/>
          <p:nvPr/>
        </p:nvSpPr>
        <p:spPr>
          <a:xfrm>
            <a:off x="640080" y="6126480"/>
            <a:ext cx="9997135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280"/>
                </a:solidFill>
                <a:latin typeface="Calibri"/>
              </a:rPr>
              <a:t>Source: models/lift_results.json, reports/lift_table.csv, reports/figures/08_lift_gain.png</a:t>
            </a:r>
          </a:p>
        </p:txBody>
      </p:sp>
      <p:sp>
        <p:nvSpPr>
          <p:cNvPr id="9" name="footer"/>
          <p:cNvSpPr txBox="1"/>
          <p:nvPr/>
        </p:nvSpPr>
        <p:spPr>
          <a:xfrm>
            <a:off x="11048695" y="61264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Calibri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F6E6E"/>
                </a:solidFill>
                <a:latin typeface="Calibri"/>
              </a:rPr>
              <a:t>11 - THE METRIC WE REFUSE: PROHIBITION TWO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676656"/>
            <a:ext cx="1091153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B2A41"/>
                </a:solidFill>
                <a:latin typeface="Calibri"/>
              </a:rPr>
              <a:t>The best model by accuracy finds nobody</a:t>
            </a:r>
          </a:p>
        </p:txBody>
      </p:sp>
      <p:sp>
        <p:nvSpPr>
          <p:cNvPr id="4" name="rule"/>
          <p:cNvSpPr/>
          <p:nvPr/>
        </p:nvSpPr>
        <p:spPr>
          <a:xfrm>
            <a:off x="640080" y="1591056"/>
            <a:ext cx="10911535" cy="16459"/>
          </a:xfrm>
          <a:prstGeom prst="rect">
            <a:avLst/>
          </a:prstGeom>
          <a:solidFill>
            <a:srgbClr val="D8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body"/>
          <p:cNvGraphicFramePr>
            <a:graphicFrameLocks noGrp="1"/>
          </p:cNvGraphicFramePr>
          <p:nvPr/>
        </p:nvGraphicFramePr>
        <p:xfrm>
          <a:off x="640080" y="1819656"/>
          <a:ext cx="10911534" cy="115163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928152"/>
                <a:gridCol w="3491691"/>
                <a:gridCol w="3491691"/>
              </a:tblGrid>
              <a:tr h="287909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Cut</a:t>
                      </a:r>
                    </a:p>
                  </a:txBody>
                  <a:tcPr marL="64008" marR="45720" marT="27432" marB="27432" anchor="ctr">
                    <a:solidFill>
                      <a:srgbClr val="1B2A4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Accuracy</a:t>
                      </a:r>
                    </a:p>
                  </a:txBody>
                  <a:tcPr marL="64008" marR="45720" marT="27432" marB="27432" anchor="ctr">
                    <a:solidFill>
                      <a:srgbClr val="1B2A4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Balanced accuracy</a:t>
                      </a:r>
                    </a:p>
                  </a:txBody>
                  <a:tcPr marL="64008" marR="45720" marT="27432" marB="27432" anchor="ctr">
                    <a:solidFill>
                      <a:srgbClr val="1B2A41"/>
                    </a:solidFill>
                  </a:tcPr>
                </a:tc>
              </a:tr>
              <a:tr h="287909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B2A41"/>
                          </a:solidFill>
                          <a:latin typeface="Calibri"/>
                        </a:rPr>
                        <a:t>Always 'no'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B2A41"/>
                          </a:solidFill>
                          <a:latin typeface="Calibri"/>
                        </a:rPr>
                        <a:t>88.3003%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B2A41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</a:tr>
              <a:tr h="287909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B2A41"/>
                          </a:solidFill>
                          <a:latin typeface="Calibri"/>
                        </a:rPr>
                        <a:t>0.5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B2A41"/>
                          </a:solidFill>
                          <a:latin typeface="Calibri"/>
                        </a:rPr>
                        <a:t>89.6052%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B2A41"/>
                          </a:solidFill>
                          <a:latin typeface="Calibri"/>
                        </a:rPr>
                        <a:t>61.28%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</a:tr>
              <a:tr h="287909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B2A41"/>
                          </a:solidFill>
                          <a:latin typeface="Calibri"/>
                        </a:rPr>
                        <a:t>Price 0.0750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B2A41"/>
                          </a:solidFill>
                          <a:latin typeface="Calibri"/>
                        </a:rPr>
                        <a:t>66.42%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B2A41"/>
                          </a:solidFill>
                          <a:latin typeface="Calibri"/>
                        </a:rPr>
                        <a:t>71.27%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body"/>
          <p:cNvSpPr txBox="1"/>
          <p:nvPr/>
        </p:nvSpPr>
        <p:spPr>
          <a:xfrm>
            <a:off x="640080" y="3190748"/>
            <a:ext cx="9326880" cy="15318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  <a:buClr>
                <a:srgbClr val="0F6E6E"/>
              </a:buClr>
              <a:buFont typeface="Calibri"/>
              <a:buChar char="–"/>
            </a:pPr>
            <a:r>
              <a:rPr sz="1300" b="0" i="0">
                <a:solidFill>
                  <a:srgbClr val="1B2A41"/>
                </a:solidFill>
                <a:latin typeface="Calibri"/>
              </a:rPr>
              <a:t>Every figure in that table is held out, from the same 9,043 rows.</a:t>
            </a:r>
          </a:p>
          <a:p>
            <a:pPr marL="201168" indent="-201168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  <a:buClr>
                <a:srgbClr val="0F6E6E"/>
              </a:buClr>
              <a:buFont typeface="Calibri"/>
              <a:buChar char="–"/>
            </a:pPr>
            <a:r>
              <a:rPr sz="1300" b="0" i="0">
                <a:solidFill>
                  <a:srgbClr val="1B2A41"/>
                </a:solidFill>
                <a:latin typeface="Calibri"/>
              </a:rPr>
              <a:t>A model that answers 'no' to everyone is 88.3003% accurate and calls nobody.</a:t>
            </a:r>
          </a:p>
          <a:p>
            <a:pPr marL="201168" indent="-201168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  <a:buClr>
                <a:srgbClr val="0F6E6E"/>
              </a:buClr>
              <a:buFont typeface="Calibri"/>
              <a:buChar char="–"/>
            </a:pPr>
            <a:r>
              <a:rPr sz="1300" b="0" i="0">
                <a:solidFill>
                  <a:srgbClr val="1B2A41"/>
                </a:solidFill>
                <a:latin typeface="Calibri"/>
              </a:rPr>
              <a:t>At its cut this model scores 66.42% - 22 points worse - while finding 77.60% of subscribers.</a:t>
            </a:r>
          </a:p>
          <a:p>
            <a:pPr marL="201168" indent="-201168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  <a:buClr>
                <a:srgbClr val="0F6E6E"/>
              </a:buClr>
              <a:buFont typeface="Calibri"/>
              <a:buChar char="–"/>
            </a:pPr>
            <a:r>
              <a:rPr sz="1300" b="0" i="0">
                <a:solidFill>
                  <a:srgbClr val="1B2A41"/>
                </a:solidFill>
                <a:latin typeface="Calibri"/>
              </a:rPr>
              <a:t>The most accurate cut is 0.5 at 89.6052%, and it still misses 801 of the 1,058.</a:t>
            </a:r>
          </a:p>
          <a:p>
            <a:pPr marL="201168" indent="-201168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F6E6E"/>
              </a:buClr>
              <a:buFont typeface="Calibri"/>
              <a:buChar char="–"/>
            </a:pPr>
            <a:r>
              <a:rPr sz="1300" b="0" i="0">
                <a:solidFill>
                  <a:srgbClr val="1B2A41"/>
                </a:solidFill>
                <a:latin typeface="Calibri"/>
              </a:rPr>
              <a:t>A metric that ranks 'call nobody' above 'call the right 40%' is not a headline.</a:t>
            </a:r>
          </a:p>
        </p:txBody>
      </p:sp>
      <p:sp>
        <p:nvSpPr>
          <p:cNvPr id="7" name="source"/>
          <p:cNvSpPr txBox="1"/>
          <p:nvPr/>
        </p:nvSpPr>
        <p:spPr>
          <a:xfrm>
            <a:off x="640080" y="6126480"/>
            <a:ext cx="9997135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280"/>
                </a:solidFill>
                <a:latin typeface="Calibri"/>
              </a:rPr>
              <a:t>Source: models/holdout_eval.json, models/metrics_cv.json</a:t>
            </a:r>
          </a:p>
        </p:txBody>
      </p:sp>
      <p:sp>
        <p:nvSpPr>
          <p:cNvPr id="8" name="footer"/>
          <p:cNvSpPr txBox="1"/>
          <p:nvPr/>
        </p:nvSpPr>
        <p:spPr>
          <a:xfrm>
            <a:off x="11048695" y="61264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Calibri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F6E6E"/>
                </a:solidFill>
                <a:latin typeface="Calibri"/>
              </a:rPr>
              <a:t>12 - WHAT DRIVES THE SCORE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676656"/>
            <a:ext cx="1091153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B2A41"/>
                </a:solidFill>
                <a:latin typeface="Calibri"/>
              </a:rPr>
              <a:t>The top driver is a blank field</a:t>
            </a:r>
          </a:p>
        </p:txBody>
      </p:sp>
      <p:sp>
        <p:nvSpPr>
          <p:cNvPr id="4" name="rule"/>
          <p:cNvSpPr/>
          <p:nvPr/>
        </p:nvSpPr>
        <p:spPr>
          <a:xfrm>
            <a:off x="640080" y="1591056"/>
            <a:ext cx="10911535" cy="16459"/>
          </a:xfrm>
          <a:prstGeom prst="rect">
            <a:avLst/>
          </a:prstGeom>
          <a:solidFill>
            <a:srgbClr val="D8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body"/>
          <p:cNvSpPr txBox="1"/>
          <p:nvPr/>
        </p:nvSpPr>
        <p:spPr>
          <a:xfrm>
            <a:off x="640080" y="1819656"/>
            <a:ext cx="4582844" cy="4026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  <a:buClr>
                <a:srgbClr val="0F6E6E"/>
              </a:buClr>
              <a:buFont typeface="Calibri"/>
              <a:buChar char="–"/>
            </a:pPr>
            <a:r>
              <a:rPr sz="1600" b="0" i="0">
                <a:solidFill>
                  <a:srgbClr val="1B2A41"/>
                </a:solidFill>
                <a:latin typeface="Calibri"/>
              </a:rPr>
              <a:t>contact carries 22.14% of importance, month 17.55% and day 10.60%: campaign-side features take 55.75% against 44.25% for the client's own.</a:t>
            </a:r>
          </a:p>
          <a:p>
            <a:pPr marL="201168" indent="-201168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  <a:buClr>
                <a:srgbClr val="0F6E6E"/>
              </a:buClr>
              <a:buFont typeface="Calibri"/>
              <a:buChar char="–"/>
            </a:pPr>
            <a:r>
              <a:rPr sz="1600" b="0" i="0">
                <a:solidFill>
                  <a:srgbClr val="1B2A41"/>
                </a:solidFill>
                <a:latin typeface="Calibri"/>
              </a:rPr>
              <a:t>contact = unknown contributes -1.0150 log-odds on 28.72% of clients, who subscribe at 4.11% against 14.83% for cellular.</a:t>
            </a:r>
          </a:p>
          <a:p>
            <a:pPr marL="201168" indent="-201168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  <a:buClr>
                <a:srgbClr val="0F6E6E"/>
              </a:buClr>
              <a:buFont typeface="Calibri"/>
              <a:buChar char="–"/>
            </a:pPr>
            <a:r>
              <a:rPr sz="1600" b="0" i="0">
                <a:solidFill>
                  <a:srgbClr val="1B2A41"/>
                </a:solidFill>
                <a:latin typeface="Calibri"/>
              </a:rPr>
              <a:t>The model is not saying those clients are bad prospects. It is saying it cannot tell.</a:t>
            </a:r>
          </a:p>
          <a:p>
            <a:pPr marL="201168" indent="-201168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F6E6E"/>
              </a:buClr>
              <a:buFont typeface="Calibri"/>
              <a:buChar char="–"/>
            </a:pPr>
            <a:r>
              <a:rPr sz="1600" b="0" i="0">
                <a:solidFill>
                  <a:srgbClr val="1B2A41"/>
                </a:solidFill>
                <a:latin typeface="Calibri"/>
              </a:rPr>
              <a:t>Prohibition three: month is a calendar from a 2008-2010 recession. Schedule with it; never predict a person's answer from it.</a:t>
            </a:r>
          </a:p>
        </p:txBody>
      </p:sp>
      <p:pic>
        <p:nvPicPr>
          <p:cNvPr id="6" name="figure" descr="09_shap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3820" y="1819656"/>
            <a:ext cx="6017794" cy="3512378"/>
          </a:xfrm>
          <a:prstGeom prst="rect">
            <a:avLst/>
          </a:prstGeom>
        </p:spPr>
      </p:pic>
      <p:sp>
        <p:nvSpPr>
          <p:cNvPr id="7" name="caption"/>
          <p:cNvSpPr txBox="1"/>
          <p:nvPr/>
        </p:nvSpPr>
        <p:spPr>
          <a:xfrm>
            <a:off x="5533820" y="5423473"/>
            <a:ext cx="6017794" cy="3545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 i="0">
                <a:solidFill>
                  <a:srgbClr val="6B7280"/>
                </a:solidFill>
                <a:latin typeface="Calibri"/>
              </a:rPr>
              <a:t>The twelve features by share of importance, each contribution's sign, and the shared one-hot blocks that keep the values additive.</a:t>
            </a:r>
          </a:p>
        </p:txBody>
      </p:sp>
      <p:sp>
        <p:nvSpPr>
          <p:cNvPr id="8" name="source"/>
          <p:cNvSpPr txBox="1"/>
          <p:nvPr/>
        </p:nvSpPr>
        <p:spPr>
          <a:xfrm>
            <a:off x="640080" y="6126480"/>
            <a:ext cx="9997135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280"/>
                </a:solidFill>
                <a:latin typeface="Calibri"/>
              </a:rPr>
              <a:t>Source: models/shap_global.json, reports/shap_importance.csv, reports/figures/09_shap_summary.png</a:t>
            </a:r>
          </a:p>
        </p:txBody>
      </p:sp>
      <p:sp>
        <p:nvSpPr>
          <p:cNvPr id="9" name="footer"/>
          <p:cNvSpPr txBox="1"/>
          <p:nvPr/>
        </p:nvSpPr>
        <p:spPr>
          <a:xfrm>
            <a:off x="11048695" y="61264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Calibri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F6E6E"/>
                </a:solidFill>
                <a:latin typeface="Calibri"/>
              </a:rPr>
              <a:t>13 - WHAT TO DO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676656"/>
            <a:ext cx="1091153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B2A41"/>
                </a:solidFill>
                <a:latin typeface="Calibri"/>
              </a:rPr>
              <a:t>Eight actions, each with the number that would prove it wrong</a:t>
            </a:r>
          </a:p>
        </p:txBody>
      </p:sp>
      <p:sp>
        <p:nvSpPr>
          <p:cNvPr id="4" name="rule"/>
          <p:cNvSpPr/>
          <p:nvPr/>
        </p:nvSpPr>
        <p:spPr>
          <a:xfrm>
            <a:off x="640080" y="1591056"/>
            <a:ext cx="10911535" cy="16459"/>
          </a:xfrm>
          <a:prstGeom prst="rect">
            <a:avLst/>
          </a:prstGeom>
          <a:solidFill>
            <a:srgbClr val="D8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body"/>
          <p:cNvGraphicFramePr>
            <a:graphicFrameLocks noGrp="1"/>
          </p:cNvGraphicFramePr>
          <p:nvPr/>
        </p:nvGraphicFramePr>
        <p:xfrm>
          <a:off x="640080" y="1819656"/>
          <a:ext cx="10911534" cy="255117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654692"/>
                <a:gridCol w="3491691"/>
                <a:gridCol w="3164345"/>
                <a:gridCol w="3600806"/>
              </a:tblGrid>
              <a:tr h="283464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4008" marR="45720" marT="27432" marB="27432" anchor="ctr">
                    <a:solidFill>
                      <a:srgbClr val="1B2A4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Action</a:t>
                      </a:r>
                    </a:p>
                  </a:txBody>
                  <a:tcPr marL="64008" marR="45720" marT="27432" marB="27432" anchor="ctr">
                    <a:solidFill>
                      <a:srgbClr val="1B2A4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Headline</a:t>
                      </a:r>
                    </a:p>
                  </a:txBody>
                  <a:tcPr marL="64008" marR="45720" marT="27432" marB="27432" anchor="ctr">
                    <a:solidFill>
                      <a:srgbClr val="1B2A4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Falsified if</a:t>
                      </a:r>
                    </a:p>
                  </a:txBody>
                  <a:tcPr marL="64008" marR="45720" marT="27432" marB="27432" anchor="ctr">
                    <a:solidFill>
                      <a:srgbClr val="1B2A41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B2A41"/>
                          </a:solidFill>
                          <a:latin typeface="Calibri"/>
                        </a:rPr>
                        <a:t>R1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B2A41"/>
                          </a:solidFill>
                          <a:latin typeface="Calibri"/>
                        </a:rPr>
                        <a:t>Make contact a required field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B2A41"/>
                          </a:solidFill>
                          <a:latin typeface="Calibri"/>
                        </a:rPr>
                        <a:t>28.72% of clients at -1.0150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B2A41"/>
                          </a:solidFill>
                          <a:latin typeface="Calibri"/>
                        </a:rPr>
                        <a:t>filled and the segment does not re-score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B2A41"/>
                          </a:solidFill>
                          <a:latin typeface="Calibri"/>
                        </a:rPr>
                        <a:t>R2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B2A41"/>
                          </a:solidFill>
                          <a:latin typeface="Calibri"/>
                        </a:rPr>
                        <a:t>Call in model order, stop at 0.0750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B2A41"/>
                          </a:solidFill>
                          <a:latin typeface="Calibri"/>
                        </a:rPr>
                        <a:t>+13,253.00 EUR, 21,302 fewer calls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B2A41"/>
                          </a:solidFill>
                          <a:latin typeface="Calibri"/>
                        </a:rPr>
                        <a:t>a later campaign reaches under 60%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B2A41"/>
                          </a:solidFill>
                          <a:latin typeface="Calibri"/>
                        </a:rPr>
                        <a:t>R3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B2A41"/>
                          </a:solidFill>
                          <a:latin typeface="Calibri"/>
                        </a:rPr>
                        <a:t>Do not stop where calls saved peaks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B2A41"/>
                          </a:solidFill>
                          <a:latin typeface="Calibri"/>
                        </a:rPr>
                        <a:t>8,033 calls at 8.96%, +2,350.50 EUR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B2A41"/>
                          </a:solidFill>
                          <a:latin typeface="Calibri"/>
                        </a:rPr>
                        <a:t>the held-out block replicates at scale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B2A41"/>
                          </a:solidFill>
                          <a:latin typeface="Calibri"/>
                        </a:rPr>
                        <a:t>R4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B2A41"/>
                          </a:solidFill>
                          <a:latin typeface="Calibri"/>
                        </a:rPr>
                        <a:t>Never feed call duration to the model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B2A41"/>
                          </a:solidFill>
                          <a:latin typeface="Calibri"/>
                        </a:rPr>
                        <a:t>+0.1788 PR-AUC, dead at dial time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B2A41"/>
                          </a:solidFill>
                          <a:latin typeface="Calibri"/>
                        </a:rPr>
                        <a:t>a dialler can supply it before the call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B2A41"/>
                          </a:solidFill>
                          <a:latin typeface="Calibri"/>
                        </a:rPr>
                        <a:t>R5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B2A41"/>
                          </a:solidFill>
                          <a:latin typeface="Calibri"/>
                        </a:rPr>
                        <a:t>Establish the value of a subscription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B2A41"/>
                          </a:solidFill>
                          <a:latin typeface="Calibri"/>
                        </a:rPr>
                        <a:t>every euro is linear in V = 20.00 EUR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B2A41"/>
                          </a:solidFill>
                          <a:latin typeface="Calibri"/>
                        </a:rPr>
                        <a:t>the bank publishes a true V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B2A41"/>
                          </a:solidFill>
                          <a:latin typeface="Calibri"/>
                        </a:rPr>
                        <a:t>R6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B2A41"/>
                          </a:solidFill>
                          <a:latin typeface="Calibri"/>
                        </a:rPr>
                        <a:t>Track precision and net value, not accuracy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B2A41"/>
                          </a:solidFill>
                          <a:latin typeface="Calibri"/>
                        </a:rPr>
                        <a:t>88.3003% from a model that finds nobody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B2A41"/>
                          </a:solidFill>
                          <a:latin typeface="Calibri"/>
                        </a:rPr>
                        <a:t>a stakeholder accepts a cost-based cut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B2A41"/>
                          </a:solidFill>
                          <a:latin typeface="Calibri"/>
                        </a:rPr>
                        <a:t>R7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B2A41"/>
                          </a:solidFill>
                          <a:latin typeface="Calibri"/>
                        </a:rPr>
                        <a:t>Keep the twelve-feature XGBoost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B2A41"/>
                          </a:solidFill>
                          <a:latin typeface="Calibri"/>
                        </a:rPr>
                        <a:t>0.4460 against 0.4346 and 0.4008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B2A41"/>
                          </a:solidFill>
                          <a:latin typeface="Calibri"/>
                        </a:rPr>
                        <a:t>a re-tune beats 0.4008 by over one SE</a:t>
                      </a:r>
                    </a:p>
                  </a:txBody>
                  <a:tcPr marL="64008" marR="45720" marT="27432" marB="27432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B2A41"/>
                          </a:solidFill>
                          <a:latin typeface="Calibri"/>
                        </a:rPr>
                        <a:t>R8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B2A41"/>
                          </a:solidFill>
                          <a:latin typeface="Calibri"/>
                        </a:rPr>
                        <a:t>Use month to schedule, never to predict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B2A41"/>
                          </a:solidFill>
                          <a:latin typeface="Calibri"/>
                        </a:rPr>
                        <a:t>17.55% of importance, 2008-2010 confound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B2A41"/>
                          </a:solidFill>
                          <a:latin typeface="Calibri"/>
                        </a:rPr>
                        <a:t>a campaign outside the recession persists</a:t>
                      </a:r>
                    </a:p>
                  </a:txBody>
                  <a:tcPr marL="64008" marR="45720" marT="27432" marB="27432" anchor="ctr"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6" name="source"/>
          <p:cNvSpPr txBox="1"/>
          <p:nvPr/>
        </p:nvSpPr>
        <p:spPr>
          <a:xfrm>
            <a:off x="640080" y="6126480"/>
            <a:ext cx="9997135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280"/>
                </a:solidFill>
                <a:latin typeface="Calibri"/>
              </a:rPr>
              <a:t>Source: models/playbook.json, reports/playbook.csv, docs/08_recommendations.md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11048695" y="61264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Calibri"/>
              </a:rPr>
              <a:t>15 /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Which clients to call today</dc:title>
  <dc:subject>DepositIQ - bank telemarketing decisioning</dc:subject>
  <dc:creator>DepositIQ</dc:creator>
  <cp:keywords>term deposit; uplift; XGBoost; cost-sensitive threshold</cp:keywords>
  <dc:description>generated using python-pptx</dc:description>
  <cp:lastModifiedBy>DepositIQ</cp:lastModifiedBy>
  <cp:revision>1</cp:revision>
  <dcterms:created xsi:type="dcterms:W3CDTF">2026-10-30T09:00:00Z</dcterms:created>
  <dcterms:modified xsi:type="dcterms:W3CDTF">2026-10-30T09:00:00Z</dcterms:modified>
  <cp:category/>
</cp:coreProperties>
</file>